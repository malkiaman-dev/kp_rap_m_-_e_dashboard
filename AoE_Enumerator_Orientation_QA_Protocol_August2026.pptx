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49240"/>
            <a:ext cx="12191695" cy="73152"/>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lliance-logo.png"/>
          <p:cNvPicPr>
            <a:picLocks noChangeAspect="1"/>
          </p:cNvPicPr>
          <p:nvPr/>
        </p:nvPicPr>
        <p:blipFill>
          <a:blip r:embed="rId2"/>
          <a:stretch>
            <a:fillRect/>
          </a:stretch>
        </p:blipFill>
        <p:spPr>
          <a:xfrm>
            <a:off x="502920" y="365760"/>
            <a:ext cx="685800" cy="685800"/>
          </a:xfrm>
          <a:prstGeom prst="rect">
            <a:avLst/>
          </a:prstGeom>
        </p:spPr>
      </p:pic>
      <p:sp>
        <p:nvSpPr>
          <p:cNvPr id="6" name="TextBox 5"/>
          <p:cNvSpPr txBox="1"/>
          <p:nvPr/>
        </p:nvSpPr>
        <p:spPr>
          <a:xfrm>
            <a:off x="502920" y="1417320"/>
            <a:ext cx="10972800" cy="320040"/>
          </a:xfrm>
          <a:prstGeom prst="rect">
            <a:avLst/>
          </a:prstGeom>
          <a:noFill/>
        </p:spPr>
        <p:txBody>
          <a:bodyPr wrap="square">
            <a:spAutoFit/>
          </a:bodyPr>
          <a:lstStyle/>
          <a:p>
            <a:pPr algn="l">
              <a:lnSpc>
                <a:spcPct val="112000"/>
              </a:lnSpc>
              <a:spcAft>
                <a:spcPts val="0"/>
              </a:spcAft>
            </a:pPr>
            <a:r>
              <a:rPr sz="1300" b="1">
                <a:solidFill>
                  <a:srgbClr val="2A7F9E"/>
                </a:solidFill>
                <a:latin typeface="Calibri"/>
              </a:rPr>
              <a:t>ALLIANCE OF EXCELLENCE  ·  KP-RAP</a:t>
            </a:r>
          </a:p>
        </p:txBody>
      </p:sp>
      <p:sp>
        <p:nvSpPr>
          <p:cNvPr id="7" name="TextBox 6"/>
          <p:cNvSpPr txBox="1"/>
          <p:nvPr/>
        </p:nvSpPr>
        <p:spPr>
          <a:xfrm>
            <a:off x="502920" y="1874519"/>
            <a:ext cx="11155680" cy="1371600"/>
          </a:xfrm>
          <a:prstGeom prst="rect">
            <a:avLst/>
          </a:prstGeom>
          <a:noFill/>
        </p:spPr>
        <p:txBody>
          <a:bodyPr wrap="square">
            <a:spAutoFit/>
          </a:bodyPr>
          <a:lstStyle/>
          <a:p>
            <a:pPr algn="l">
              <a:lnSpc>
                <a:spcPct val="112000"/>
              </a:lnSpc>
              <a:spcAft>
                <a:spcPts val="400"/>
              </a:spcAft>
            </a:pPr>
            <a:r>
              <a:rPr sz="4200" b="1">
                <a:solidFill>
                  <a:srgbClr val="FFFFFF"/>
                </a:solidFill>
                <a:latin typeface="Calibri"/>
              </a:rPr>
              <a:t>Enumerator orientation</a:t>
            </a:r>
          </a:p>
        </p:txBody>
      </p:sp>
      <p:sp>
        <p:nvSpPr>
          <p:cNvPr id="8" name="TextBox 7"/>
          <p:cNvSpPr txBox="1"/>
          <p:nvPr/>
        </p:nvSpPr>
        <p:spPr>
          <a:xfrm>
            <a:off x="502920" y="3246120"/>
            <a:ext cx="10972800" cy="1097280"/>
          </a:xfrm>
          <a:prstGeom prst="rect">
            <a:avLst/>
          </a:prstGeom>
          <a:noFill/>
        </p:spPr>
        <p:txBody>
          <a:bodyPr wrap="square">
            <a:spAutoFit/>
          </a:bodyPr>
          <a:lstStyle/>
          <a:p>
            <a:pPr algn="l">
              <a:lnSpc>
                <a:spcPct val="112000"/>
              </a:lnSpc>
              <a:spcAft>
                <a:spcPts val="400"/>
              </a:spcAft>
            </a:pPr>
            <a:r>
              <a:rPr sz="1800" b="0">
                <a:solidFill>
                  <a:srgbClr val="EAF0F6"/>
                </a:solidFill>
                <a:latin typeface="Calibri"/>
              </a:rPr>
              <a:t>Household and Girls Surveys</a:t>
            </a:r>
          </a:p>
          <a:p>
            <a:pPr algn="l">
              <a:lnSpc>
                <a:spcPct val="112000"/>
              </a:lnSpc>
              <a:spcAft>
                <a:spcPts val="400"/>
              </a:spcAft>
            </a:pPr>
            <a:r>
              <a:rPr sz="1800" b="0">
                <a:solidFill>
                  <a:srgbClr val="EAF0F6"/>
                </a:solidFill>
                <a:latin typeface="Calibri"/>
              </a:rPr>
              <a:t>Data quality protocol: rules, checks and field practice</a:t>
            </a:r>
          </a:p>
        </p:txBody>
      </p:sp>
      <p:sp>
        <p:nvSpPr>
          <p:cNvPr id="9" name="TextBox 8"/>
          <p:cNvSpPr txBox="1"/>
          <p:nvPr/>
        </p:nvSpPr>
        <p:spPr>
          <a:xfrm>
            <a:off x="502920" y="5623560"/>
            <a:ext cx="11155680" cy="822960"/>
          </a:xfrm>
          <a:prstGeom prst="rect">
            <a:avLst/>
          </a:prstGeom>
          <a:noFill/>
        </p:spPr>
        <p:txBody>
          <a:bodyPr wrap="square">
            <a:spAutoFit/>
          </a:bodyPr>
          <a:lstStyle/>
          <a:p>
            <a:pPr algn="l">
              <a:lnSpc>
                <a:spcPct val="112000"/>
              </a:lnSpc>
              <a:spcAft>
                <a:spcPts val="200"/>
              </a:spcAft>
            </a:pPr>
            <a:r>
              <a:rPr sz="1300" b="0">
                <a:solidFill>
                  <a:srgbClr val="FFFFFF"/>
                </a:solidFill>
                <a:latin typeface="Calibri"/>
              </a:rPr>
              <a:t>D.I. Khan  ·  Hangu  ·  Lakki Marwat  ·  remaining work in Torghar (paused)</a:t>
            </a:r>
          </a:p>
          <a:p>
            <a:pPr algn="l">
              <a:lnSpc>
                <a:spcPct val="112000"/>
              </a:lnSpc>
              <a:spcAft>
                <a:spcPts val="200"/>
              </a:spcAft>
            </a:pPr>
            <a:r>
              <a:rPr sz="1300" b="0">
                <a:solidFill>
                  <a:srgbClr val="FFFFFF"/>
                </a:solidFill>
                <a:latin typeface="Calibri"/>
              </a:rPr>
              <a:t>Quality Assurance Workplan Version 2.0  ·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Agenda</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What we will cover in this session</a:t>
            </a:r>
          </a:p>
        </p:txBody>
      </p:sp>
      <p:sp>
        <p:nvSpPr>
          <p:cNvPr id="7" name="Rounded Rectangle 6"/>
          <p:cNvSpPr/>
          <p:nvPr/>
        </p:nvSpPr>
        <p:spPr>
          <a:xfrm>
            <a:off x="411480" y="1280160"/>
            <a:ext cx="3657600" cy="137160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600200"/>
            <a:ext cx="822960" cy="502920"/>
          </a:xfrm>
          <a:prstGeom prst="rect">
            <a:avLst/>
          </a:prstGeom>
          <a:noFill/>
        </p:spPr>
        <p:txBody>
          <a:bodyPr wrap="square">
            <a:spAutoFit/>
          </a:bodyPr>
          <a:lstStyle/>
          <a:p>
            <a:pPr algn="l">
              <a:lnSpc>
                <a:spcPct val="112000"/>
              </a:lnSpc>
              <a:spcAft>
                <a:spcPts val="0"/>
              </a:spcAft>
            </a:pPr>
            <a:r>
              <a:rPr sz="2600" b="1">
                <a:solidFill>
                  <a:srgbClr val="2A7F9E"/>
                </a:solidFill>
                <a:latin typeface="Calibri"/>
              </a:rPr>
              <a:t>01</a:t>
            </a:r>
          </a:p>
        </p:txBody>
      </p:sp>
      <p:sp>
        <p:nvSpPr>
          <p:cNvPr id="9" name="TextBox 8"/>
          <p:cNvSpPr txBox="1"/>
          <p:nvPr/>
        </p:nvSpPr>
        <p:spPr>
          <a:xfrm>
            <a:off x="1463040" y="1691640"/>
            <a:ext cx="2377440" cy="73152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Why quality matters every day</a:t>
            </a:r>
          </a:p>
        </p:txBody>
      </p:sp>
      <p:sp>
        <p:nvSpPr>
          <p:cNvPr id="10" name="Rounded Rectangle 9"/>
          <p:cNvSpPr/>
          <p:nvPr/>
        </p:nvSpPr>
        <p:spPr>
          <a:xfrm>
            <a:off x="4251960" y="1280160"/>
            <a:ext cx="3657600" cy="137160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1600200"/>
            <a:ext cx="822960" cy="502920"/>
          </a:xfrm>
          <a:prstGeom prst="rect">
            <a:avLst/>
          </a:prstGeom>
          <a:noFill/>
        </p:spPr>
        <p:txBody>
          <a:bodyPr wrap="square">
            <a:spAutoFit/>
          </a:bodyPr>
          <a:lstStyle/>
          <a:p>
            <a:pPr algn="l">
              <a:lnSpc>
                <a:spcPct val="112000"/>
              </a:lnSpc>
              <a:spcAft>
                <a:spcPts val="0"/>
              </a:spcAft>
            </a:pPr>
            <a:r>
              <a:rPr sz="2600" b="1">
                <a:solidFill>
                  <a:srgbClr val="2A7F9E"/>
                </a:solidFill>
                <a:latin typeface="Calibri"/>
              </a:rPr>
              <a:t>02</a:t>
            </a:r>
          </a:p>
        </p:txBody>
      </p:sp>
      <p:sp>
        <p:nvSpPr>
          <p:cNvPr id="12" name="TextBox 11"/>
          <p:cNvSpPr txBox="1"/>
          <p:nvPr/>
        </p:nvSpPr>
        <p:spPr>
          <a:xfrm>
            <a:off x="5303520" y="1691640"/>
            <a:ext cx="2377440" cy="73152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Track 1 vs Track 2 (with list)</a:t>
            </a:r>
          </a:p>
        </p:txBody>
      </p:sp>
      <p:sp>
        <p:nvSpPr>
          <p:cNvPr id="13" name="Rounded Rectangle 12"/>
          <p:cNvSpPr/>
          <p:nvPr/>
        </p:nvSpPr>
        <p:spPr>
          <a:xfrm>
            <a:off x="8092440" y="1280160"/>
            <a:ext cx="3657600" cy="137160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1600200"/>
            <a:ext cx="822960" cy="502920"/>
          </a:xfrm>
          <a:prstGeom prst="rect">
            <a:avLst/>
          </a:prstGeom>
          <a:noFill/>
        </p:spPr>
        <p:txBody>
          <a:bodyPr wrap="square">
            <a:spAutoFit/>
          </a:bodyPr>
          <a:lstStyle/>
          <a:p>
            <a:pPr algn="l">
              <a:lnSpc>
                <a:spcPct val="112000"/>
              </a:lnSpc>
              <a:spcAft>
                <a:spcPts val="0"/>
              </a:spcAft>
            </a:pPr>
            <a:r>
              <a:rPr sz="2600" b="1">
                <a:solidFill>
                  <a:srgbClr val="2A7F9E"/>
                </a:solidFill>
                <a:latin typeface="Calibri"/>
              </a:rPr>
              <a:t>03</a:t>
            </a:r>
          </a:p>
        </p:txBody>
      </p:sp>
      <p:sp>
        <p:nvSpPr>
          <p:cNvPr id="15" name="TextBox 14"/>
          <p:cNvSpPr txBox="1"/>
          <p:nvPr/>
        </p:nvSpPr>
        <p:spPr>
          <a:xfrm>
            <a:off x="9144000" y="1691640"/>
            <a:ext cx="2377440" cy="73152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Hard field rules</a:t>
            </a:r>
          </a:p>
        </p:txBody>
      </p:sp>
      <p:sp>
        <p:nvSpPr>
          <p:cNvPr id="16" name="Rounded Rectangle 15"/>
          <p:cNvSpPr/>
          <p:nvPr/>
        </p:nvSpPr>
        <p:spPr>
          <a:xfrm>
            <a:off x="411480" y="2880360"/>
            <a:ext cx="3657600" cy="137160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200400"/>
            <a:ext cx="822960" cy="502920"/>
          </a:xfrm>
          <a:prstGeom prst="rect">
            <a:avLst/>
          </a:prstGeom>
          <a:noFill/>
        </p:spPr>
        <p:txBody>
          <a:bodyPr wrap="square">
            <a:spAutoFit/>
          </a:bodyPr>
          <a:lstStyle/>
          <a:p>
            <a:pPr algn="l">
              <a:lnSpc>
                <a:spcPct val="112000"/>
              </a:lnSpc>
              <a:spcAft>
                <a:spcPts val="0"/>
              </a:spcAft>
            </a:pPr>
            <a:r>
              <a:rPr sz="2600" b="1">
                <a:solidFill>
                  <a:srgbClr val="2A7F9E"/>
                </a:solidFill>
                <a:latin typeface="Calibri"/>
              </a:rPr>
              <a:t>04</a:t>
            </a:r>
          </a:p>
        </p:txBody>
      </p:sp>
      <p:sp>
        <p:nvSpPr>
          <p:cNvPr id="18" name="TextBox 17"/>
          <p:cNvSpPr txBox="1"/>
          <p:nvPr/>
        </p:nvSpPr>
        <p:spPr>
          <a:xfrm>
            <a:off x="1463040" y="3291840"/>
            <a:ext cx="2377440" cy="73152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Father &amp; mother surveys (mandatory)</a:t>
            </a:r>
          </a:p>
        </p:txBody>
      </p:sp>
      <p:sp>
        <p:nvSpPr>
          <p:cNvPr id="19" name="Rounded Rectangle 18"/>
          <p:cNvSpPr/>
          <p:nvPr/>
        </p:nvSpPr>
        <p:spPr>
          <a:xfrm>
            <a:off x="4251960" y="2880360"/>
            <a:ext cx="3657600" cy="137160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80560" y="3200400"/>
            <a:ext cx="822960" cy="502920"/>
          </a:xfrm>
          <a:prstGeom prst="rect">
            <a:avLst/>
          </a:prstGeom>
          <a:noFill/>
        </p:spPr>
        <p:txBody>
          <a:bodyPr wrap="square">
            <a:spAutoFit/>
          </a:bodyPr>
          <a:lstStyle/>
          <a:p>
            <a:pPr algn="l">
              <a:lnSpc>
                <a:spcPct val="112000"/>
              </a:lnSpc>
              <a:spcAft>
                <a:spcPts val="0"/>
              </a:spcAft>
            </a:pPr>
            <a:r>
              <a:rPr sz="2600" b="1">
                <a:solidFill>
                  <a:srgbClr val="2A7F9E"/>
                </a:solidFill>
                <a:latin typeface="Calibri"/>
              </a:rPr>
              <a:t>05</a:t>
            </a:r>
          </a:p>
        </p:txBody>
      </p:sp>
      <p:sp>
        <p:nvSpPr>
          <p:cNvPr id="21" name="TextBox 20"/>
          <p:cNvSpPr txBox="1"/>
          <p:nvPr/>
        </p:nvSpPr>
        <p:spPr>
          <a:xfrm>
            <a:off x="5303520" y="3291840"/>
            <a:ext cx="2377440" cy="73152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Consent, roster, GPS, timing</a:t>
            </a:r>
          </a:p>
        </p:txBody>
      </p:sp>
      <p:sp>
        <p:nvSpPr>
          <p:cNvPr id="22" name="Rounded Rectangle 21"/>
          <p:cNvSpPr/>
          <p:nvPr/>
        </p:nvSpPr>
        <p:spPr>
          <a:xfrm>
            <a:off x="8092440" y="2880360"/>
            <a:ext cx="3657600" cy="137160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21040" y="3200400"/>
            <a:ext cx="822960" cy="502920"/>
          </a:xfrm>
          <a:prstGeom prst="rect">
            <a:avLst/>
          </a:prstGeom>
          <a:noFill/>
        </p:spPr>
        <p:txBody>
          <a:bodyPr wrap="square">
            <a:spAutoFit/>
          </a:bodyPr>
          <a:lstStyle/>
          <a:p>
            <a:pPr algn="l">
              <a:lnSpc>
                <a:spcPct val="112000"/>
              </a:lnSpc>
              <a:spcAft>
                <a:spcPts val="0"/>
              </a:spcAft>
            </a:pPr>
            <a:r>
              <a:rPr sz="2600" b="1">
                <a:solidFill>
                  <a:srgbClr val="2A7F9E"/>
                </a:solidFill>
                <a:latin typeface="Calibri"/>
              </a:rPr>
              <a:t>06</a:t>
            </a:r>
          </a:p>
        </p:txBody>
      </p:sp>
      <p:sp>
        <p:nvSpPr>
          <p:cNvPr id="24" name="TextBox 23"/>
          <p:cNvSpPr txBox="1"/>
          <p:nvPr/>
        </p:nvSpPr>
        <p:spPr>
          <a:xfrm>
            <a:off x="9144000" y="3291840"/>
            <a:ext cx="2377440" cy="73152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Learning test &amp; photograph</a:t>
            </a:r>
          </a:p>
        </p:txBody>
      </p:sp>
      <p:sp>
        <p:nvSpPr>
          <p:cNvPr id="25" name="Rounded Rectangle 24"/>
          <p:cNvSpPr/>
          <p:nvPr/>
        </p:nvSpPr>
        <p:spPr>
          <a:xfrm>
            <a:off x="411480" y="4480560"/>
            <a:ext cx="3657600" cy="137160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4800600"/>
            <a:ext cx="822960" cy="502920"/>
          </a:xfrm>
          <a:prstGeom prst="rect">
            <a:avLst/>
          </a:prstGeom>
          <a:noFill/>
        </p:spPr>
        <p:txBody>
          <a:bodyPr wrap="square">
            <a:spAutoFit/>
          </a:bodyPr>
          <a:lstStyle/>
          <a:p>
            <a:pPr algn="l">
              <a:lnSpc>
                <a:spcPct val="112000"/>
              </a:lnSpc>
              <a:spcAft>
                <a:spcPts val="0"/>
              </a:spcAft>
            </a:pPr>
            <a:r>
              <a:rPr sz="2600" b="1">
                <a:solidFill>
                  <a:srgbClr val="2A7F9E"/>
                </a:solidFill>
                <a:latin typeface="Calibri"/>
              </a:rPr>
              <a:t>07</a:t>
            </a:r>
          </a:p>
        </p:txBody>
      </p:sp>
      <p:sp>
        <p:nvSpPr>
          <p:cNvPr id="27" name="TextBox 26"/>
          <p:cNvSpPr txBox="1"/>
          <p:nvPr/>
        </p:nvSpPr>
        <p:spPr>
          <a:xfrm>
            <a:off x="1463040" y="4892040"/>
            <a:ext cx="2377440" cy="73152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Checks tagged Track 1 / Track 2</a:t>
            </a:r>
          </a:p>
        </p:txBody>
      </p:sp>
      <p:sp>
        <p:nvSpPr>
          <p:cNvPr id="28" name="Rounded Rectangle 27"/>
          <p:cNvSpPr/>
          <p:nvPr/>
        </p:nvSpPr>
        <p:spPr>
          <a:xfrm>
            <a:off x="4251960" y="4480560"/>
            <a:ext cx="3657600" cy="137160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80560" y="4800600"/>
            <a:ext cx="822960" cy="502920"/>
          </a:xfrm>
          <a:prstGeom prst="rect">
            <a:avLst/>
          </a:prstGeom>
          <a:noFill/>
        </p:spPr>
        <p:txBody>
          <a:bodyPr wrap="square">
            <a:spAutoFit/>
          </a:bodyPr>
          <a:lstStyle/>
          <a:p>
            <a:pPr algn="l">
              <a:lnSpc>
                <a:spcPct val="112000"/>
              </a:lnSpc>
              <a:spcAft>
                <a:spcPts val="0"/>
              </a:spcAft>
            </a:pPr>
            <a:r>
              <a:rPr sz="2600" b="1">
                <a:solidFill>
                  <a:srgbClr val="2A7F9E"/>
                </a:solidFill>
                <a:latin typeface="Calibri"/>
              </a:rPr>
              <a:t>08</a:t>
            </a:r>
          </a:p>
        </p:txBody>
      </p:sp>
      <p:sp>
        <p:nvSpPr>
          <p:cNvPr id="30" name="TextBox 29"/>
          <p:cNvSpPr txBox="1"/>
          <p:nvPr/>
        </p:nvSpPr>
        <p:spPr>
          <a:xfrm>
            <a:off x="5303520" y="4892040"/>
            <a:ext cx="2377440" cy="73152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After a finding, resurvey &amp; supervision</a:t>
            </a:r>
          </a:p>
        </p:txBody>
      </p:sp>
      <p:sp>
        <p:nvSpPr>
          <p:cNvPr id="31" name="Rounded Rectangle 30"/>
          <p:cNvSpPr/>
          <p:nvPr/>
        </p:nvSpPr>
        <p:spPr>
          <a:xfrm>
            <a:off x="8092440" y="4480560"/>
            <a:ext cx="3657600" cy="137160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21040" y="4800600"/>
            <a:ext cx="822960" cy="502920"/>
          </a:xfrm>
          <a:prstGeom prst="rect">
            <a:avLst/>
          </a:prstGeom>
          <a:noFill/>
        </p:spPr>
        <p:txBody>
          <a:bodyPr wrap="square">
            <a:spAutoFit/>
          </a:bodyPr>
          <a:lstStyle/>
          <a:p>
            <a:pPr algn="l">
              <a:lnSpc>
                <a:spcPct val="112000"/>
              </a:lnSpc>
              <a:spcAft>
                <a:spcPts val="0"/>
              </a:spcAft>
            </a:pPr>
            <a:r>
              <a:rPr sz="2600" b="1">
                <a:solidFill>
                  <a:srgbClr val="2A7F9E"/>
                </a:solidFill>
                <a:latin typeface="Calibri"/>
              </a:rPr>
              <a:t>09</a:t>
            </a:r>
          </a:p>
        </p:txBody>
      </p:sp>
      <p:sp>
        <p:nvSpPr>
          <p:cNvPr id="33" name="TextBox 32"/>
          <p:cNvSpPr txBox="1"/>
          <p:nvPr/>
        </p:nvSpPr>
        <p:spPr>
          <a:xfrm>
            <a:off x="9144000" y="4892040"/>
            <a:ext cx="2377440" cy="73152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Your daily checklist</a:t>
            </a:r>
          </a:p>
        </p:txBody>
      </p:sp>
      <p:sp>
        <p:nvSpPr>
          <p:cNvPr id="34" name="Rectangle 33"/>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36" name="TextBox 35"/>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2  /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Why this session</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Clean data while fieldwork is still running</a:t>
            </a:r>
          </a:p>
        </p:txBody>
      </p:sp>
      <p:sp>
        <p:nvSpPr>
          <p:cNvPr id="7" name="Rounded Rectangle 6"/>
          <p:cNvSpPr/>
          <p:nvPr/>
        </p:nvSpPr>
        <p:spPr>
          <a:xfrm>
            <a:off x="457200" y="1234440"/>
            <a:ext cx="11247120" cy="105156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234440"/>
            <a:ext cx="91440" cy="105156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08760"/>
            <a:ext cx="640080" cy="457200"/>
          </a:xfrm>
          <a:prstGeom prst="rect">
            <a:avLst/>
          </a:prstGeom>
          <a:noFill/>
        </p:spPr>
        <p:txBody>
          <a:bodyPr wrap="square">
            <a:spAutoFit/>
          </a:bodyPr>
          <a:lstStyle/>
          <a:p>
            <a:pPr algn="l">
              <a:lnSpc>
                <a:spcPct val="112000"/>
              </a:lnSpc>
              <a:spcAft>
                <a:spcPts val="0"/>
              </a:spcAft>
            </a:pPr>
            <a:r>
              <a:rPr sz="2200" b="1">
                <a:solidFill>
                  <a:srgbClr val="2A7F9E"/>
                </a:solidFill>
                <a:latin typeface="Calibri"/>
              </a:rPr>
              <a:t>01</a:t>
            </a:r>
          </a:p>
        </p:txBody>
      </p:sp>
      <p:sp>
        <p:nvSpPr>
          <p:cNvPr id="10" name="TextBox 9"/>
          <p:cNvSpPr txBox="1"/>
          <p:nvPr/>
        </p:nvSpPr>
        <p:spPr>
          <a:xfrm>
            <a:off x="1554480" y="1399032"/>
            <a:ext cx="9784080" cy="320040"/>
          </a:xfrm>
          <a:prstGeom prst="rect">
            <a:avLst/>
          </a:prstGeom>
          <a:noFill/>
        </p:spPr>
        <p:txBody>
          <a:bodyPr wrap="square">
            <a:spAutoFit/>
          </a:bodyPr>
          <a:lstStyle/>
          <a:p>
            <a:pPr algn="l">
              <a:lnSpc>
                <a:spcPct val="112000"/>
              </a:lnSpc>
              <a:spcAft>
                <a:spcPts val="0"/>
              </a:spcAft>
            </a:pPr>
            <a:r>
              <a:rPr sz="1600" b="1">
                <a:solidFill>
                  <a:srgbClr val="17365D"/>
                </a:solidFill>
                <a:latin typeface="Calibri"/>
              </a:rPr>
              <a:t>Every form is checked</a:t>
            </a:r>
          </a:p>
        </p:txBody>
      </p:sp>
      <p:sp>
        <p:nvSpPr>
          <p:cNvPr id="11" name="TextBox 10"/>
          <p:cNvSpPr txBox="1"/>
          <p:nvPr/>
        </p:nvSpPr>
        <p:spPr>
          <a:xfrm>
            <a:off x="1554480" y="1737360"/>
            <a:ext cx="978408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Household and Girls submissions are reviewed every working day. No enumerator is skipped.</a:t>
            </a:r>
          </a:p>
        </p:txBody>
      </p:sp>
      <p:sp>
        <p:nvSpPr>
          <p:cNvPr id="12" name="Rounded Rectangle 11"/>
          <p:cNvSpPr/>
          <p:nvPr/>
        </p:nvSpPr>
        <p:spPr>
          <a:xfrm>
            <a:off x="457200" y="2423160"/>
            <a:ext cx="11247120" cy="1051560"/>
          </a:xfrm>
          <a:prstGeom prst="roundRect">
            <a:avLst>
              <a:gd name="adj" fmla="val 6000"/>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2423160"/>
            <a:ext cx="91440" cy="105156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2697480"/>
            <a:ext cx="640080" cy="457200"/>
          </a:xfrm>
          <a:prstGeom prst="rect">
            <a:avLst/>
          </a:prstGeom>
          <a:noFill/>
        </p:spPr>
        <p:txBody>
          <a:bodyPr wrap="square">
            <a:spAutoFit/>
          </a:bodyPr>
          <a:lstStyle/>
          <a:p>
            <a:pPr algn="l">
              <a:lnSpc>
                <a:spcPct val="112000"/>
              </a:lnSpc>
              <a:spcAft>
                <a:spcPts val="0"/>
              </a:spcAft>
            </a:pPr>
            <a:r>
              <a:rPr sz="2200" b="1">
                <a:solidFill>
                  <a:srgbClr val="2A7F9E"/>
                </a:solidFill>
                <a:latin typeface="Calibri"/>
              </a:rPr>
              <a:t>02</a:t>
            </a:r>
          </a:p>
        </p:txBody>
      </p:sp>
      <p:sp>
        <p:nvSpPr>
          <p:cNvPr id="15" name="TextBox 14"/>
          <p:cNvSpPr txBox="1"/>
          <p:nvPr/>
        </p:nvSpPr>
        <p:spPr>
          <a:xfrm>
            <a:off x="1554480" y="2587752"/>
            <a:ext cx="9784080" cy="320040"/>
          </a:xfrm>
          <a:prstGeom prst="rect">
            <a:avLst/>
          </a:prstGeom>
          <a:noFill/>
        </p:spPr>
        <p:txBody>
          <a:bodyPr wrap="square">
            <a:spAutoFit/>
          </a:bodyPr>
          <a:lstStyle/>
          <a:p>
            <a:pPr algn="l">
              <a:lnSpc>
                <a:spcPct val="112000"/>
              </a:lnSpc>
              <a:spcAft>
                <a:spcPts val="0"/>
              </a:spcAft>
            </a:pPr>
            <a:r>
              <a:rPr sz="1600" b="1">
                <a:solidFill>
                  <a:srgbClr val="17365D"/>
                </a:solidFill>
                <a:latin typeface="Calibri"/>
              </a:rPr>
              <a:t>Same-day feedback</a:t>
            </a:r>
          </a:p>
        </p:txBody>
      </p:sp>
      <p:sp>
        <p:nvSpPr>
          <p:cNvPr id="16" name="TextBox 15"/>
          <p:cNvSpPr txBox="1"/>
          <p:nvPr/>
        </p:nvSpPr>
        <p:spPr>
          <a:xfrm>
            <a:off x="1554480" y="2926080"/>
            <a:ext cx="978408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Findings appear on the district portal the same day. On Track 1 you are called while the interview is still fresh.</a:t>
            </a:r>
          </a:p>
        </p:txBody>
      </p:sp>
      <p:sp>
        <p:nvSpPr>
          <p:cNvPr id="17" name="Rounded Rectangle 16"/>
          <p:cNvSpPr/>
          <p:nvPr/>
        </p:nvSpPr>
        <p:spPr>
          <a:xfrm>
            <a:off x="457200" y="3611880"/>
            <a:ext cx="11247120" cy="105156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611880"/>
            <a:ext cx="91440" cy="105156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3886200"/>
            <a:ext cx="640080" cy="457200"/>
          </a:xfrm>
          <a:prstGeom prst="rect">
            <a:avLst/>
          </a:prstGeom>
          <a:noFill/>
        </p:spPr>
        <p:txBody>
          <a:bodyPr wrap="square">
            <a:spAutoFit/>
          </a:bodyPr>
          <a:lstStyle/>
          <a:p>
            <a:pPr algn="l">
              <a:lnSpc>
                <a:spcPct val="112000"/>
              </a:lnSpc>
              <a:spcAft>
                <a:spcPts val="0"/>
              </a:spcAft>
            </a:pPr>
            <a:r>
              <a:rPr sz="2200" b="1">
                <a:solidFill>
                  <a:srgbClr val="2A7F9E"/>
                </a:solidFill>
                <a:latin typeface="Calibri"/>
              </a:rPr>
              <a:t>03</a:t>
            </a:r>
          </a:p>
        </p:txBody>
      </p:sp>
      <p:sp>
        <p:nvSpPr>
          <p:cNvPr id="20" name="TextBox 19"/>
          <p:cNvSpPr txBox="1"/>
          <p:nvPr/>
        </p:nvSpPr>
        <p:spPr>
          <a:xfrm>
            <a:off x="1554480" y="3776472"/>
            <a:ext cx="9784080" cy="320040"/>
          </a:xfrm>
          <a:prstGeom prst="rect">
            <a:avLst/>
          </a:prstGeom>
          <a:noFill/>
        </p:spPr>
        <p:txBody>
          <a:bodyPr wrap="square">
            <a:spAutoFit/>
          </a:bodyPr>
          <a:lstStyle/>
          <a:p>
            <a:pPr algn="l">
              <a:lnSpc>
                <a:spcPct val="112000"/>
              </a:lnSpc>
              <a:spcAft>
                <a:spcPts val="0"/>
              </a:spcAft>
            </a:pPr>
            <a:r>
              <a:rPr sz="1600" b="1">
                <a:solidFill>
                  <a:srgbClr val="17365D"/>
                </a:solidFill>
                <a:latin typeface="Calibri"/>
              </a:rPr>
              <a:t>Guidance before the next day</a:t>
            </a:r>
          </a:p>
        </p:txBody>
      </p:sp>
      <p:sp>
        <p:nvSpPr>
          <p:cNvPr id="21" name="TextBox 20"/>
          <p:cNvSpPr txBox="1"/>
          <p:nvPr/>
        </p:nvSpPr>
        <p:spPr>
          <a:xfrm>
            <a:off x="1554480" y="4114800"/>
            <a:ext cx="978408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Correctable issues are fixed with clear guidance before you return to the field.</a:t>
            </a:r>
          </a:p>
        </p:txBody>
      </p:sp>
      <p:sp>
        <p:nvSpPr>
          <p:cNvPr id="22" name="Rounded Rectangle 21"/>
          <p:cNvSpPr/>
          <p:nvPr/>
        </p:nvSpPr>
        <p:spPr>
          <a:xfrm>
            <a:off x="457200" y="4800600"/>
            <a:ext cx="11247120" cy="1051560"/>
          </a:xfrm>
          <a:prstGeom prst="roundRect">
            <a:avLst>
              <a:gd name="adj" fmla="val 6000"/>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4800600"/>
            <a:ext cx="91440" cy="105156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5074920"/>
            <a:ext cx="640080" cy="457200"/>
          </a:xfrm>
          <a:prstGeom prst="rect">
            <a:avLst/>
          </a:prstGeom>
          <a:noFill/>
        </p:spPr>
        <p:txBody>
          <a:bodyPr wrap="square">
            <a:spAutoFit/>
          </a:bodyPr>
          <a:lstStyle/>
          <a:p>
            <a:pPr algn="l">
              <a:lnSpc>
                <a:spcPct val="112000"/>
              </a:lnSpc>
              <a:spcAft>
                <a:spcPts val="0"/>
              </a:spcAft>
            </a:pPr>
            <a:r>
              <a:rPr sz="2200" b="1">
                <a:solidFill>
                  <a:srgbClr val="2A7F9E"/>
                </a:solidFill>
                <a:latin typeface="Calibri"/>
              </a:rPr>
              <a:t>04</a:t>
            </a:r>
          </a:p>
        </p:txBody>
      </p:sp>
      <p:sp>
        <p:nvSpPr>
          <p:cNvPr id="25" name="TextBox 24"/>
          <p:cNvSpPr txBox="1"/>
          <p:nvPr/>
        </p:nvSpPr>
        <p:spPr>
          <a:xfrm>
            <a:off x="1554480" y="4965192"/>
            <a:ext cx="9784080" cy="320040"/>
          </a:xfrm>
          <a:prstGeom prst="rect">
            <a:avLst/>
          </a:prstGeom>
          <a:noFill/>
        </p:spPr>
        <p:txBody>
          <a:bodyPr wrap="square">
            <a:spAutoFit/>
          </a:bodyPr>
          <a:lstStyle/>
          <a:p>
            <a:pPr algn="l">
              <a:lnSpc>
                <a:spcPct val="112000"/>
              </a:lnSpc>
              <a:spcAft>
                <a:spcPts val="0"/>
              </a:spcAft>
            </a:pPr>
            <a:r>
              <a:rPr sz="1600" b="1">
                <a:solidFill>
                  <a:srgbClr val="17365D"/>
                </a:solidFill>
                <a:latin typeface="Calibri"/>
              </a:rPr>
              <a:t>Integrity is different</a:t>
            </a:r>
          </a:p>
        </p:txBody>
      </p:sp>
      <p:sp>
        <p:nvSpPr>
          <p:cNvPr id="26" name="TextBox 25"/>
          <p:cNvSpPr txBox="1"/>
          <p:nvPr/>
        </p:nvSpPr>
        <p:spPr>
          <a:xfrm>
            <a:off x="1554480" y="5303520"/>
            <a:ext cx="978408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Fabrication, rushed forms, fake consent or wrong GPS are Track 2: suspension and investigation, not a casual call.</a:t>
            </a:r>
          </a:p>
        </p:txBody>
      </p:sp>
      <p:sp>
        <p:nvSpPr>
          <p:cNvPr id="27" name="Rectangle 26"/>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29" name="TextBox 28"/>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3  /  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Two tracks</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Not every finding is treated the same way</a:t>
            </a:r>
          </a:p>
        </p:txBody>
      </p:sp>
      <p:sp>
        <p:nvSpPr>
          <p:cNvPr id="7" name="Rounded Rectangle 6"/>
          <p:cNvSpPr/>
          <p:nvPr/>
        </p:nvSpPr>
        <p:spPr>
          <a:xfrm>
            <a:off x="411480" y="1234440"/>
            <a:ext cx="5532120" cy="4937760"/>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17320"/>
            <a:ext cx="5029200" cy="365760"/>
          </a:xfrm>
          <a:prstGeom prst="rect">
            <a:avLst/>
          </a:prstGeom>
          <a:noFill/>
        </p:spPr>
        <p:txBody>
          <a:bodyPr wrap="square">
            <a:spAutoFit/>
          </a:bodyPr>
          <a:lstStyle/>
          <a:p>
            <a:pPr algn="l">
              <a:lnSpc>
                <a:spcPct val="112000"/>
              </a:lnSpc>
              <a:spcAft>
                <a:spcPts val="0"/>
              </a:spcAft>
            </a:pPr>
            <a:r>
              <a:rPr sz="1700" b="1">
                <a:solidFill>
                  <a:srgbClr val="1B6B5A"/>
                </a:solidFill>
                <a:latin typeface="Calibri"/>
              </a:rPr>
              <a:t>TRACK 1  ·  Correctable error</a:t>
            </a:r>
          </a:p>
        </p:txBody>
      </p:sp>
      <p:sp>
        <p:nvSpPr>
          <p:cNvPr id="9" name="TextBox 8"/>
          <p:cNvSpPr txBox="1"/>
          <p:nvPr/>
        </p:nvSpPr>
        <p:spPr>
          <a:xfrm>
            <a:off x="685800" y="1920240"/>
            <a:ext cx="5029200" cy="3931920"/>
          </a:xfrm>
          <a:prstGeom prst="rect">
            <a:avLst/>
          </a:prstGeom>
          <a:noFill/>
        </p:spPr>
        <p:txBody>
          <a:bodyPr wrap="square">
            <a:spAutoFit/>
          </a:bodyPr>
          <a:lstStyle/>
          <a:p>
            <a:pPr algn="l">
              <a:lnSpc>
                <a:spcPct val="112000"/>
              </a:lnSpc>
              <a:spcAft>
                <a:spcPts val="200"/>
              </a:spcAft>
            </a:pPr>
            <a:r>
              <a:rPr sz="1300" b="0">
                <a:solidFill>
                  <a:srgbClr val="243447"/>
                </a:solidFill>
                <a:latin typeface="Calibri"/>
              </a:rPr>
              <a:t>Examples</a:t>
            </a:r>
          </a:p>
          <a:p>
            <a:pPr algn="l">
              <a:lnSpc>
                <a:spcPct val="112000"/>
              </a:lnSpc>
              <a:spcAft>
                <a:spcPts val="200"/>
              </a:spcAft>
            </a:pPr>
            <a:r>
              <a:rPr sz="1300" b="0">
                <a:solidFill>
                  <a:srgbClr val="243447"/>
                </a:solidFill>
                <a:latin typeface="Calibri"/>
              </a:rPr>
              <a:t>Typing mistake, skipped question, device issue, dummy text that looks like a slip.</a:t>
            </a:r>
          </a:p>
          <a:p>
            <a:pPr algn="l">
              <a:lnSpc>
                <a:spcPct val="112000"/>
              </a:lnSpc>
              <a:spcAft>
                <a:spcPts val="200"/>
              </a:spcAft>
            </a:pPr>
            <a:endParaRPr sz="1300" b="0">
              <a:solidFill>
                <a:srgbClr val="243447"/>
              </a:solidFill>
              <a:latin typeface="Calibri"/>
            </a:endParaRPr>
          </a:p>
          <a:p>
            <a:pPr algn="l">
              <a:lnSpc>
                <a:spcPct val="112000"/>
              </a:lnSpc>
              <a:spcAft>
                <a:spcPts val="200"/>
              </a:spcAft>
            </a:pPr>
            <a:r>
              <a:rPr sz="1300" b="0">
                <a:solidFill>
                  <a:srgbClr val="243447"/>
                </a:solidFill>
                <a:latin typeface="Calibri"/>
              </a:rPr>
              <a:t>What happens</a:t>
            </a:r>
          </a:p>
          <a:p>
            <a:pPr algn="l">
              <a:lnSpc>
                <a:spcPct val="112000"/>
              </a:lnSpc>
              <a:spcAft>
                <a:spcPts val="200"/>
              </a:spcAft>
            </a:pPr>
            <a:r>
              <a:rPr sz="1300" b="0">
                <a:solidFill>
                  <a:srgbClr val="243447"/>
                </a:solidFill>
                <a:latin typeface="Calibri"/>
              </a:rPr>
              <a:t>1. You are notified of the form and the finding</a:t>
            </a:r>
          </a:p>
          <a:p>
            <a:pPr algn="l">
              <a:lnSpc>
                <a:spcPct val="112000"/>
              </a:lnSpc>
              <a:spcAft>
                <a:spcPts val="200"/>
              </a:spcAft>
            </a:pPr>
            <a:r>
              <a:rPr sz="1300" b="0">
                <a:solidFill>
                  <a:srgbClr val="243447"/>
                </a:solidFill>
                <a:latin typeface="Calibri"/>
              </a:rPr>
              <a:t>2. You get a call the same day or next morning</a:t>
            </a:r>
          </a:p>
          <a:p>
            <a:pPr algn="l">
              <a:lnSpc>
                <a:spcPct val="112000"/>
              </a:lnSpc>
              <a:spcAft>
                <a:spcPts val="200"/>
              </a:spcAft>
            </a:pPr>
            <a:r>
              <a:rPr sz="1300" b="0">
                <a:solidFill>
                  <a:srgbClr val="243447"/>
                </a:solidFill>
                <a:latin typeface="Calibri"/>
              </a:rPr>
              <a:t>3. You explain what happened</a:t>
            </a:r>
          </a:p>
          <a:p>
            <a:pPr algn="l">
              <a:lnSpc>
                <a:spcPct val="112000"/>
              </a:lnSpc>
              <a:spcAft>
                <a:spcPts val="200"/>
              </a:spcAft>
            </a:pPr>
            <a:r>
              <a:rPr sz="1300" b="0">
                <a:solidFill>
                  <a:srgbClr val="243447"/>
                </a:solidFill>
                <a:latin typeface="Calibri"/>
              </a:rPr>
              <a:t>4. You receive clear guidance</a:t>
            </a:r>
          </a:p>
          <a:p>
            <a:pPr algn="l">
              <a:lnSpc>
                <a:spcPct val="112000"/>
              </a:lnSpc>
              <a:spcAft>
                <a:spcPts val="200"/>
              </a:spcAft>
            </a:pPr>
            <a:r>
              <a:rPr sz="1300" b="0">
                <a:solidFill>
                  <a:srgbClr val="243447"/>
                </a:solidFill>
                <a:latin typeface="Calibri"/>
              </a:rPr>
              <a:t>5. You apply it on the next interview</a:t>
            </a:r>
          </a:p>
          <a:p>
            <a:pPr algn="l">
              <a:lnSpc>
                <a:spcPct val="112000"/>
              </a:lnSpc>
              <a:spcAft>
                <a:spcPts val="200"/>
              </a:spcAft>
            </a:pPr>
            <a:r>
              <a:rPr sz="1300" b="0">
                <a:solidFill>
                  <a:srgbClr val="243447"/>
                </a:solidFill>
                <a:latin typeface="Calibri"/>
              </a:rPr>
              <a:t>6. Finding, explanation and guidance are recorded</a:t>
            </a:r>
          </a:p>
          <a:p>
            <a:pPr algn="l">
              <a:lnSpc>
                <a:spcPct val="112000"/>
              </a:lnSpc>
              <a:spcAft>
                <a:spcPts val="200"/>
              </a:spcAft>
            </a:pPr>
            <a:endParaRPr sz="1300" b="0">
              <a:solidFill>
                <a:srgbClr val="243447"/>
              </a:solidFill>
              <a:latin typeface="Calibri"/>
            </a:endParaRPr>
          </a:p>
          <a:p>
            <a:pPr algn="l">
              <a:lnSpc>
                <a:spcPct val="112000"/>
              </a:lnSpc>
              <a:spcAft>
                <a:spcPts val="200"/>
              </a:spcAft>
            </a:pPr>
            <a:r>
              <a:rPr sz="1300" b="0">
                <a:solidFill>
                  <a:srgbClr val="243447"/>
                </a:solidFill>
                <a:latin typeface="Calibri"/>
              </a:rPr>
              <a:t>If the same finding continues: written warning, then possible withdrawal from interviews.</a:t>
            </a:r>
          </a:p>
        </p:txBody>
      </p:sp>
      <p:sp>
        <p:nvSpPr>
          <p:cNvPr id="10" name="Rounded Rectangle 9"/>
          <p:cNvSpPr/>
          <p:nvPr/>
        </p:nvSpPr>
        <p:spPr>
          <a:xfrm>
            <a:off x="6217920" y="1234440"/>
            <a:ext cx="5532120" cy="4937760"/>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417320"/>
            <a:ext cx="5029200" cy="365760"/>
          </a:xfrm>
          <a:prstGeom prst="rect">
            <a:avLst/>
          </a:prstGeom>
          <a:noFill/>
        </p:spPr>
        <p:txBody>
          <a:bodyPr wrap="square">
            <a:spAutoFit/>
          </a:bodyPr>
          <a:lstStyle/>
          <a:p>
            <a:pPr algn="l">
              <a:lnSpc>
                <a:spcPct val="112000"/>
              </a:lnSpc>
              <a:spcAft>
                <a:spcPts val="0"/>
              </a:spcAft>
            </a:pPr>
            <a:r>
              <a:rPr sz="1700" b="1">
                <a:solidFill>
                  <a:srgbClr val="8B1E3F"/>
                </a:solidFill>
                <a:latin typeface="Calibri"/>
              </a:rPr>
              <a:t>TRACK 2  ·  Integrity violation</a:t>
            </a:r>
          </a:p>
        </p:txBody>
      </p:sp>
      <p:sp>
        <p:nvSpPr>
          <p:cNvPr id="12" name="TextBox 11"/>
          <p:cNvSpPr txBox="1"/>
          <p:nvPr/>
        </p:nvSpPr>
        <p:spPr>
          <a:xfrm>
            <a:off x="6492240" y="1920240"/>
            <a:ext cx="5029200" cy="3931920"/>
          </a:xfrm>
          <a:prstGeom prst="rect">
            <a:avLst/>
          </a:prstGeom>
          <a:noFill/>
        </p:spPr>
        <p:txBody>
          <a:bodyPr wrap="square">
            <a:spAutoFit/>
          </a:bodyPr>
          <a:lstStyle/>
          <a:p>
            <a:pPr algn="l">
              <a:lnSpc>
                <a:spcPct val="112000"/>
              </a:lnSpc>
              <a:spcAft>
                <a:spcPts val="200"/>
              </a:spcAft>
            </a:pPr>
            <a:r>
              <a:rPr sz="1300" b="0">
                <a:solidFill>
                  <a:srgbClr val="243447"/>
                </a:solidFill>
                <a:latin typeface="Calibri"/>
              </a:rPr>
              <a:t>Examples</a:t>
            </a:r>
          </a:p>
          <a:p>
            <a:pPr algn="l">
              <a:lnSpc>
                <a:spcPct val="112000"/>
              </a:lnSpc>
              <a:spcAft>
                <a:spcPts val="200"/>
              </a:spcAft>
            </a:pPr>
            <a:r>
              <a:rPr sz="1300" b="0">
                <a:solidFill>
                  <a:srgbClr val="243447"/>
                </a:solidFill>
                <a:latin typeface="Calibri"/>
              </a:rPr>
              <a:t>Interview did not take place; consent tapped through; form under 15 minutes; GPS wrong; completed case re-entered; learning test recorded but not given.</a:t>
            </a:r>
          </a:p>
          <a:p>
            <a:pPr algn="l">
              <a:lnSpc>
                <a:spcPct val="112000"/>
              </a:lnSpc>
              <a:spcAft>
                <a:spcPts val="200"/>
              </a:spcAft>
            </a:pPr>
            <a:endParaRPr sz="1300" b="0">
              <a:solidFill>
                <a:srgbClr val="243447"/>
              </a:solidFill>
              <a:latin typeface="Calibri"/>
            </a:endParaRPr>
          </a:p>
          <a:p>
            <a:pPr algn="l">
              <a:lnSpc>
                <a:spcPct val="112000"/>
              </a:lnSpc>
              <a:spcAft>
                <a:spcPts val="200"/>
              </a:spcAft>
            </a:pPr>
            <a:r>
              <a:rPr sz="1300" b="0">
                <a:solidFill>
                  <a:srgbClr val="243447"/>
                </a:solidFill>
                <a:latin typeface="Calibri"/>
              </a:rPr>
              <a:t>What happens</a:t>
            </a:r>
          </a:p>
          <a:p>
            <a:pPr algn="l">
              <a:lnSpc>
                <a:spcPct val="112000"/>
              </a:lnSpc>
              <a:spcAft>
                <a:spcPts val="200"/>
              </a:spcAft>
            </a:pPr>
            <a:r>
              <a:rPr sz="1300" b="0">
                <a:solidFill>
                  <a:srgbClr val="243447"/>
                </a:solidFill>
                <a:latin typeface="Calibri"/>
              </a:rPr>
              <a:t>Immediate suspension pending investigation</a:t>
            </a:r>
          </a:p>
          <a:p>
            <a:pPr algn="l">
              <a:lnSpc>
                <a:spcPct val="112000"/>
              </a:lnSpc>
              <a:spcAft>
                <a:spcPts val="200"/>
              </a:spcAft>
            </a:pPr>
            <a:r>
              <a:rPr sz="1300" b="0">
                <a:solidFill>
                  <a:srgbClr val="243447"/>
                </a:solidFill>
                <a:latin typeface="Calibri"/>
              </a:rPr>
              <a:t>Full review of your completed workload</a:t>
            </a:r>
          </a:p>
          <a:p>
            <a:pPr algn="l">
              <a:lnSpc>
                <a:spcPct val="112000"/>
              </a:lnSpc>
              <a:spcAft>
                <a:spcPts val="200"/>
              </a:spcAft>
            </a:pPr>
            <a:r>
              <a:rPr sz="1300" b="0">
                <a:solidFill>
                  <a:srgbClr val="243447"/>
                </a:solidFill>
                <a:latin typeface="Calibri"/>
              </a:rPr>
              <a:t>Forms that cannot be verified are invalidated and re-collected</a:t>
            </a:r>
          </a:p>
          <a:p>
            <a:pPr algn="l">
              <a:lnSpc>
                <a:spcPct val="112000"/>
              </a:lnSpc>
              <a:spcAft>
                <a:spcPts val="200"/>
              </a:spcAft>
            </a:pPr>
            <a:r>
              <a:rPr sz="1300" b="0">
                <a:solidFill>
                  <a:srgbClr val="243447"/>
                </a:solidFill>
                <a:latin typeface="Calibri"/>
              </a:rPr>
              <a:t>PIU notified in writing within 24 hours</a:t>
            </a:r>
          </a:p>
          <a:p>
            <a:pPr algn="l">
              <a:lnSpc>
                <a:spcPct val="112000"/>
              </a:lnSpc>
              <a:spcAft>
                <a:spcPts val="200"/>
              </a:spcAft>
            </a:pPr>
            <a:endParaRPr sz="1300" b="0">
              <a:solidFill>
                <a:srgbClr val="243447"/>
              </a:solidFill>
              <a:latin typeface="Calibri"/>
            </a:endParaRPr>
          </a:p>
          <a:p>
            <a:pPr algn="l">
              <a:lnSpc>
                <a:spcPct val="112000"/>
              </a:lnSpc>
              <a:spcAft>
                <a:spcPts val="200"/>
              </a:spcAft>
            </a:pPr>
            <a:r>
              <a:rPr sz="1300" b="0">
                <a:solidFill>
                  <a:srgbClr val="243447"/>
                </a:solidFill>
                <a:latin typeface="Calibri"/>
              </a:rPr>
              <a:t>Your explanation alone does not close Track 2.</a:t>
            </a:r>
          </a:p>
          <a:p>
            <a:pPr algn="l">
              <a:lnSpc>
                <a:spcPct val="112000"/>
              </a:lnSpc>
              <a:spcAft>
                <a:spcPts val="200"/>
              </a:spcAft>
            </a:pPr>
            <a:r>
              <a:rPr sz="1300" b="0">
                <a:solidFill>
                  <a:srgbClr val="243447"/>
                </a:solidFill>
                <a:latin typeface="Calibri"/>
              </a:rPr>
              <a:t>Only independent verification closes it.</a:t>
            </a:r>
          </a:p>
        </p:txBody>
      </p:sp>
      <p:sp>
        <p:nvSpPr>
          <p:cNvPr id="13" name="Rectangle 12"/>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15" name="TextBox 14"/>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4  /  20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Which findings are Track 1 or Track 2?</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Green = correctable. Red = integrity. Learn this list.</a:t>
            </a:r>
          </a:p>
        </p:txBody>
      </p:sp>
      <p:sp>
        <p:nvSpPr>
          <p:cNvPr id="7" name="Rounded Rectangle 6"/>
          <p:cNvSpPr/>
          <p:nvPr/>
        </p:nvSpPr>
        <p:spPr>
          <a:xfrm>
            <a:off x="411480" y="1143000"/>
            <a:ext cx="5532120" cy="502920"/>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234440"/>
            <a:ext cx="5212080" cy="365760"/>
          </a:xfrm>
          <a:prstGeom prst="rect">
            <a:avLst/>
          </a:prstGeom>
          <a:noFill/>
        </p:spPr>
        <p:txBody>
          <a:bodyPr wrap="square">
            <a:spAutoFit/>
          </a:bodyPr>
          <a:lstStyle/>
          <a:p>
            <a:pPr algn="l">
              <a:lnSpc>
                <a:spcPct val="112000"/>
              </a:lnSpc>
              <a:spcAft>
                <a:spcPts val="0"/>
              </a:spcAft>
            </a:pPr>
            <a:r>
              <a:rPr sz="1300" b="1">
                <a:solidFill>
                  <a:srgbClr val="1B6B5A"/>
                </a:solidFill>
                <a:latin typeface="Calibri"/>
              </a:rPr>
              <a:t>TRACK 1  ·  Notify, call, explain, guide</a:t>
            </a:r>
          </a:p>
        </p:txBody>
      </p:sp>
      <p:sp>
        <p:nvSpPr>
          <p:cNvPr id="9" name="Rounded Rectangle 8"/>
          <p:cNvSpPr/>
          <p:nvPr/>
        </p:nvSpPr>
        <p:spPr>
          <a:xfrm>
            <a:off x="6217920" y="1143000"/>
            <a:ext cx="5532120" cy="502920"/>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234440"/>
            <a:ext cx="5212080" cy="365760"/>
          </a:xfrm>
          <a:prstGeom prst="rect">
            <a:avLst/>
          </a:prstGeom>
          <a:noFill/>
        </p:spPr>
        <p:txBody>
          <a:bodyPr wrap="square">
            <a:spAutoFit/>
          </a:bodyPr>
          <a:lstStyle/>
          <a:p>
            <a:pPr algn="l">
              <a:lnSpc>
                <a:spcPct val="112000"/>
              </a:lnSpc>
              <a:spcAft>
                <a:spcPts val="0"/>
              </a:spcAft>
            </a:pPr>
            <a:r>
              <a:rPr sz="1300" b="1">
                <a:solidFill>
                  <a:srgbClr val="8B1E3F"/>
                </a:solidFill>
                <a:latin typeface="Calibri"/>
              </a:rPr>
              <a:t>TRACK 2  ·  Suspend, investigate, notify PIU</a:t>
            </a:r>
          </a:p>
        </p:txBody>
      </p:sp>
      <p:sp>
        <p:nvSpPr>
          <p:cNvPr id="11" name="Rounded Rectangle 10"/>
          <p:cNvSpPr/>
          <p:nvPr/>
        </p:nvSpPr>
        <p:spPr>
          <a:xfrm>
            <a:off x="411480" y="1783080"/>
            <a:ext cx="553212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11480" y="178308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48640" y="182880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184708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15" name="TextBox 14"/>
          <p:cNvSpPr txBox="1"/>
          <p:nvPr/>
        </p:nvSpPr>
        <p:spPr>
          <a:xfrm>
            <a:off x="1691640" y="1856232"/>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Typing / data-entry mistake</a:t>
            </a:r>
          </a:p>
        </p:txBody>
      </p:sp>
      <p:sp>
        <p:nvSpPr>
          <p:cNvPr id="16" name="Rounded Rectangle 15"/>
          <p:cNvSpPr/>
          <p:nvPr/>
        </p:nvSpPr>
        <p:spPr>
          <a:xfrm>
            <a:off x="411480" y="2167128"/>
            <a:ext cx="553212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11480" y="2167128"/>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48640" y="2212848"/>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2231136"/>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20" name="TextBox 19"/>
          <p:cNvSpPr txBox="1"/>
          <p:nvPr/>
        </p:nvSpPr>
        <p:spPr>
          <a:xfrm>
            <a:off x="1691640" y="2240280"/>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Skipped question or device issue</a:t>
            </a:r>
          </a:p>
        </p:txBody>
      </p:sp>
      <p:sp>
        <p:nvSpPr>
          <p:cNvPr id="21" name="Rounded Rectangle 20"/>
          <p:cNvSpPr/>
          <p:nvPr/>
        </p:nvSpPr>
        <p:spPr>
          <a:xfrm>
            <a:off x="411480" y="2551176"/>
            <a:ext cx="553212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11480" y="2551176"/>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48640" y="2596896"/>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2615184"/>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25" name="TextBox 24"/>
          <p:cNvSpPr txBox="1"/>
          <p:nvPr/>
        </p:nvSpPr>
        <p:spPr>
          <a:xfrm>
            <a:off x="1691640" y="2624328"/>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Dummy name or dummy phone (first / slip)</a:t>
            </a:r>
          </a:p>
        </p:txBody>
      </p:sp>
      <p:sp>
        <p:nvSpPr>
          <p:cNvPr id="26" name="Rounded Rectangle 25"/>
          <p:cNvSpPr/>
          <p:nvPr/>
        </p:nvSpPr>
        <p:spPr>
          <a:xfrm>
            <a:off x="411480" y="2935224"/>
            <a:ext cx="553212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11480" y="2935224"/>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48640" y="2980944"/>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2999232"/>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30" name="TextBox 29"/>
          <p:cNvSpPr txBox="1"/>
          <p:nvPr/>
        </p:nvSpPr>
        <p:spPr>
          <a:xfrm>
            <a:off x="1691640" y="3008376"/>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Household size mismatch; extreme small/large HH</a:t>
            </a:r>
          </a:p>
        </p:txBody>
      </p:sp>
      <p:sp>
        <p:nvSpPr>
          <p:cNvPr id="31" name="Rounded Rectangle 30"/>
          <p:cNvSpPr/>
          <p:nvPr/>
        </p:nvSpPr>
        <p:spPr>
          <a:xfrm>
            <a:off x="411480" y="3319272"/>
            <a:ext cx="553212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11480" y="3319272"/>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48640" y="3364992"/>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8640" y="3383280"/>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35" name="TextBox 34"/>
          <p:cNvSpPr txBox="1"/>
          <p:nvPr/>
        </p:nvSpPr>
        <p:spPr>
          <a:xfrm>
            <a:off x="1691640" y="3392424"/>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girl_label spelling mismatch; listed girl not first</a:t>
            </a:r>
          </a:p>
        </p:txBody>
      </p:sp>
      <p:sp>
        <p:nvSpPr>
          <p:cNvPr id="36" name="Rounded Rectangle 35"/>
          <p:cNvSpPr/>
          <p:nvPr/>
        </p:nvSpPr>
        <p:spPr>
          <a:xfrm>
            <a:off x="411480" y="3703320"/>
            <a:ext cx="553212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11480" y="370332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548640" y="374904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48640" y="376732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40" name="TextBox 39"/>
          <p:cNvSpPr txBox="1"/>
          <p:nvPr/>
        </p:nvSpPr>
        <p:spPr>
          <a:xfrm>
            <a:off x="1691640" y="3776472"/>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Education outlier; mother vs father schooling mismatch</a:t>
            </a:r>
          </a:p>
        </p:txBody>
      </p:sp>
      <p:sp>
        <p:nvSpPr>
          <p:cNvPr id="41" name="Rounded Rectangle 40"/>
          <p:cNvSpPr/>
          <p:nvPr/>
        </p:nvSpPr>
        <p:spPr>
          <a:xfrm>
            <a:off x="411480" y="4087368"/>
            <a:ext cx="553212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11480" y="4087368"/>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548640" y="4133088"/>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48640" y="4151376"/>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45" name="TextBox 44"/>
          <p:cNvSpPr txBox="1"/>
          <p:nvPr/>
        </p:nvSpPr>
        <p:spPr>
          <a:xfrm>
            <a:off x="1691640" y="4160520"/>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High don't-know / refuse rate</a:t>
            </a:r>
          </a:p>
        </p:txBody>
      </p:sp>
      <p:sp>
        <p:nvSpPr>
          <p:cNvPr id="46" name="Rounded Rectangle 45"/>
          <p:cNvSpPr/>
          <p:nvPr/>
        </p:nvSpPr>
        <p:spPr>
          <a:xfrm>
            <a:off x="411480" y="4471416"/>
            <a:ext cx="553212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11480" y="4471416"/>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548640" y="4517136"/>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48640" y="4535424"/>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50" name="TextBox 49"/>
          <p:cNvSpPr txBox="1"/>
          <p:nvPr/>
        </p:nvSpPr>
        <p:spPr>
          <a:xfrm>
            <a:off x="1691640" y="4544568"/>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GPS missing (location off) — first call &amp; guidance</a:t>
            </a:r>
          </a:p>
        </p:txBody>
      </p:sp>
      <p:sp>
        <p:nvSpPr>
          <p:cNvPr id="51" name="Rounded Rectangle 50"/>
          <p:cNvSpPr/>
          <p:nvPr/>
        </p:nvSpPr>
        <p:spPr>
          <a:xfrm>
            <a:off x="411480" y="4855464"/>
            <a:ext cx="553212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411480" y="4855464"/>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548640" y="4901184"/>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8640" y="4919472"/>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55" name="TextBox 54"/>
          <p:cNvSpPr txBox="1"/>
          <p:nvPr/>
        </p:nvSpPr>
        <p:spPr>
          <a:xfrm>
            <a:off x="1691640" y="4928616"/>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Late-night start; long duration; clock year error</a:t>
            </a:r>
          </a:p>
        </p:txBody>
      </p:sp>
      <p:sp>
        <p:nvSpPr>
          <p:cNvPr id="56" name="Rounded Rectangle 55"/>
          <p:cNvSpPr/>
          <p:nvPr/>
        </p:nvSpPr>
        <p:spPr>
          <a:xfrm>
            <a:off x="411480" y="5239512"/>
            <a:ext cx="553212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411480" y="5239512"/>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548640" y="5285232"/>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48640" y="5303520"/>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60" name="TextBox 59"/>
          <p:cNvSpPr txBox="1"/>
          <p:nvPr/>
        </p:nvSpPr>
        <p:spPr>
          <a:xfrm>
            <a:off x="1691640" y="5312664"/>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Girls survey still outstanding (attempts incomplete)</a:t>
            </a:r>
          </a:p>
        </p:txBody>
      </p:sp>
      <p:sp>
        <p:nvSpPr>
          <p:cNvPr id="61" name="Rounded Rectangle 60"/>
          <p:cNvSpPr/>
          <p:nvPr/>
        </p:nvSpPr>
        <p:spPr>
          <a:xfrm>
            <a:off x="411480" y="5623560"/>
            <a:ext cx="553212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411480" y="562356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548640" y="566928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48640" y="568756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65" name="TextBox 64"/>
          <p:cNvSpPr txBox="1"/>
          <p:nvPr/>
        </p:nvSpPr>
        <p:spPr>
          <a:xfrm>
            <a:off x="1691640" y="5696712"/>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Name mismatch HH vs Girls; travel/time inconsistency</a:t>
            </a:r>
          </a:p>
        </p:txBody>
      </p:sp>
      <p:sp>
        <p:nvSpPr>
          <p:cNvPr id="66" name="Rounded Rectangle 65"/>
          <p:cNvSpPr/>
          <p:nvPr/>
        </p:nvSpPr>
        <p:spPr>
          <a:xfrm>
            <a:off x="411480" y="6007608"/>
            <a:ext cx="553212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411480" y="6007608"/>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548640" y="6053328"/>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48640" y="6071616"/>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70" name="TextBox 69"/>
          <p:cNvSpPr txBox="1"/>
          <p:nvPr/>
        </p:nvSpPr>
        <p:spPr>
          <a:xfrm>
            <a:off x="1691640" y="6080760"/>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Father/mother consent agreed but survey not yet in (follow-up)</a:t>
            </a:r>
          </a:p>
        </p:txBody>
      </p:sp>
      <p:sp>
        <p:nvSpPr>
          <p:cNvPr id="71" name="Rounded Rectangle 70"/>
          <p:cNvSpPr/>
          <p:nvPr/>
        </p:nvSpPr>
        <p:spPr>
          <a:xfrm>
            <a:off x="6217920" y="1783080"/>
            <a:ext cx="553212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6217920" y="178308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p:cNvSpPr/>
          <p:nvPr/>
        </p:nvSpPr>
        <p:spPr>
          <a:xfrm>
            <a:off x="6355080" y="182880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355080" y="184708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75" name="TextBox 74"/>
          <p:cNvSpPr txBox="1"/>
          <p:nvPr/>
        </p:nvSpPr>
        <p:spPr>
          <a:xfrm>
            <a:off x="7498080" y="1856232"/>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Consent screens tapped through</a:t>
            </a:r>
          </a:p>
        </p:txBody>
      </p:sp>
      <p:sp>
        <p:nvSpPr>
          <p:cNvPr id="76" name="Rounded Rectangle 75"/>
          <p:cNvSpPr/>
          <p:nvPr/>
        </p:nvSpPr>
        <p:spPr>
          <a:xfrm>
            <a:off x="6217920" y="2167128"/>
            <a:ext cx="553212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6217920" y="2167128"/>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p:cNvSpPr/>
          <p:nvPr/>
        </p:nvSpPr>
        <p:spPr>
          <a:xfrm>
            <a:off x="6355080" y="2212848"/>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355080" y="2231136"/>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80" name="TextBox 79"/>
          <p:cNvSpPr txBox="1"/>
          <p:nvPr/>
        </p:nvSpPr>
        <p:spPr>
          <a:xfrm>
            <a:off x="7498080" y="2240280"/>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Consent recorded but not obtained</a:t>
            </a:r>
          </a:p>
        </p:txBody>
      </p:sp>
      <p:sp>
        <p:nvSpPr>
          <p:cNvPr id="81" name="Rounded Rectangle 80"/>
          <p:cNvSpPr/>
          <p:nvPr/>
        </p:nvSpPr>
        <p:spPr>
          <a:xfrm>
            <a:off x="6217920" y="2551176"/>
            <a:ext cx="553212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6217920" y="2551176"/>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82"/>
          <p:cNvSpPr/>
          <p:nvPr/>
        </p:nvSpPr>
        <p:spPr>
          <a:xfrm>
            <a:off x="6355080" y="2596896"/>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6355080" y="2615184"/>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85" name="TextBox 84"/>
          <p:cNvSpPr txBox="1"/>
          <p:nvPr/>
        </p:nvSpPr>
        <p:spPr>
          <a:xfrm>
            <a:off x="7498080" y="2624328"/>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Interview did not take place (denied by respondent)</a:t>
            </a:r>
          </a:p>
        </p:txBody>
      </p:sp>
      <p:sp>
        <p:nvSpPr>
          <p:cNvPr id="86" name="Rounded Rectangle 85"/>
          <p:cNvSpPr/>
          <p:nvPr/>
        </p:nvSpPr>
        <p:spPr>
          <a:xfrm>
            <a:off x="6217920" y="2935224"/>
            <a:ext cx="553212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6217920" y="2935224"/>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ounded Rectangle 87"/>
          <p:cNvSpPr/>
          <p:nvPr/>
        </p:nvSpPr>
        <p:spPr>
          <a:xfrm>
            <a:off x="6355080" y="2980944"/>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355080" y="2999232"/>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90" name="TextBox 89"/>
          <p:cNvSpPr txBox="1"/>
          <p:nvPr/>
        </p:nvSpPr>
        <p:spPr>
          <a:xfrm>
            <a:off x="7498080" y="3008376"/>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Completed form under 15 minutes</a:t>
            </a:r>
          </a:p>
        </p:txBody>
      </p:sp>
      <p:sp>
        <p:nvSpPr>
          <p:cNvPr id="91" name="Rounded Rectangle 90"/>
          <p:cNvSpPr/>
          <p:nvPr/>
        </p:nvSpPr>
        <p:spPr>
          <a:xfrm>
            <a:off x="6217920" y="3319272"/>
            <a:ext cx="553212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6217920" y="3319272"/>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92"/>
          <p:cNvSpPr/>
          <p:nvPr/>
        </p:nvSpPr>
        <p:spPr>
          <a:xfrm>
            <a:off x="6355080" y="3364992"/>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355080" y="3383280"/>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95" name="TextBox 94"/>
          <p:cNvSpPr txBox="1"/>
          <p:nvPr/>
        </p:nvSpPr>
        <p:spPr>
          <a:xfrm>
            <a:off x="7498080" y="3392424"/>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Completed case re-entered without PIU / IE approval</a:t>
            </a:r>
          </a:p>
        </p:txBody>
      </p:sp>
      <p:sp>
        <p:nvSpPr>
          <p:cNvPr id="96" name="Rounded Rectangle 95"/>
          <p:cNvSpPr/>
          <p:nvPr/>
        </p:nvSpPr>
        <p:spPr>
          <a:xfrm>
            <a:off x="6217920" y="3703320"/>
            <a:ext cx="553212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6217920" y="370332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ounded Rectangle 97"/>
          <p:cNvSpPr/>
          <p:nvPr/>
        </p:nvSpPr>
        <p:spPr>
          <a:xfrm>
            <a:off x="6355080" y="374904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6355080" y="376732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100" name="TextBox 99"/>
          <p:cNvSpPr txBox="1"/>
          <p:nvPr/>
        </p:nvSpPr>
        <p:spPr>
          <a:xfrm>
            <a:off x="7498080" y="3776472"/>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GPS inconsistent / wrong area / HH vs Girls GPS mismatch (integrity)</a:t>
            </a:r>
          </a:p>
        </p:txBody>
      </p:sp>
      <p:sp>
        <p:nvSpPr>
          <p:cNvPr id="101" name="Rounded Rectangle 100"/>
          <p:cNvSpPr/>
          <p:nvPr/>
        </p:nvSpPr>
        <p:spPr>
          <a:xfrm>
            <a:off x="6217920" y="4087368"/>
            <a:ext cx="553212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6217920" y="4087368"/>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ounded Rectangle 102"/>
          <p:cNvSpPr/>
          <p:nvPr/>
        </p:nvSpPr>
        <p:spPr>
          <a:xfrm>
            <a:off x="6355080" y="4133088"/>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6355080" y="4151376"/>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105" name="TextBox 104"/>
          <p:cNvSpPr txBox="1"/>
          <p:nvPr/>
        </p:nvSpPr>
        <p:spPr>
          <a:xfrm>
            <a:off x="7498080" y="4160520"/>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Learning test recorded but not administered</a:t>
            </a:r>
          </a:p>
        </p:txBody>
      </p:sp>
      <p:sp>
        <p:nvSpPr>
          <p:cNvPr id="106" name="Rounded Rectangle 105"/>
          <p:cNvSpPr/>
          <p:nvPr/>
        </p:nvSpPr>
        <p:spPr>
          <a:xfrm>
            <a:off x="6217920" y="4471416"/>
            <a:ext cx="553212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6217920" y="4471416"/>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ounded Rectangle 107"/>
          <p:cNvSpPr/>
          <p:nvPr/>
        </p:nvSpPr>
        <p:spPr>
          <a:xfrm>
            <a:off x="6355080" y="4517136"/>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6355080" y="4535424"/>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110" name="TextBox 109"/>
          <p:cNvSpPr txBox="1"/>
          <p:nvPr/>
        </p:nvSpPr>
        <p:spPr>
          <a:xfrm>
            <a:off x="7498080" y="4544568"/>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Blank / random test photo (field confirmation)</a:t>
            </a:r>
          </a:p>
        </p:txBody>
      </p:sp>
      <p:sp>
        <p:nvSpPr>
          <p:cNvPr id="111" name="Rounded Rectangle 110"/>
          <p:cNvSpPr/>
          <p:nvPr/>
        </p:nvSpPr>
        <p:spPr>
          <a:xfrm>
            <a:off x="6217920" y="4855464"/>
            <a:ext cx="553212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6217920" y="4855464"/>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ounded Rectangle 112"/>
          <p:cNvSpPr/>
          <p:nvPr/>
        </p:nvSpPr>
        <p:spPr>
          <a:xfrm>
            <a:off x="6355080" y="4901184"/>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6355080" y="4919472"/>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115" name="TextBox 114"/>
          <p:cNvSpPr txBox="1"/>
          <p:nvPr/>
        </p:nvSpPr>
        <p:spPr>
          <a:xfrm>
            <a:off x="7498080" y="4928616"/>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Reading-test marks that cannot describe one event (serious)</a:t>
            </a:r>
          </a:p>
        </p:txBody>
      </p:sp>
      <p:sp>
        <p:nvSpPr>
          <p:cNvPr id="116" name="Rounded Rectangle 115"/>
          <p:cNvSpPr/>
          <p:nvPr/>
        </p:nvSpPr>
        <p:spPr>
          <a:xfrm>
            <a:off x="6217920" y="5239512"/>
            <a:ext cx="553212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6217920" y="5239512"/>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ounded Rectangle 117"/>
          <p:cNvSpPr/>
          <p:nvPr/>
        </p:nvSpPr>
        <p:spPr>
          <a:xfrm>
            <a:off x="6355080" y="5285232"/>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6355080" y="5303520"/>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120" name="TextBox 119"/>
          <p:cNvSpPr txBox="1"/>
          <p:nvPr/>
        </p:nvSpPr>
        <p:spPr>
          <a:xfrm>
            <a:off x="7498080" y="5312664"/>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Listed girl omitted from roster (resurvey + integrity review)</a:t>
            </a:r>
          </a:p>
        </p:txBody>
      </p:sp>
      <p:sp>
        <p:nvSpPr>
          <p:cNvPr id="121" name="Rounded Rectangle 120"/>
          <p:cNvSpPr/>
          <p:nvPr/>
        </p:nvSpPr>
        <p:spPr>
          <a:xfrm>
            <a:off x="6217920" y="5623560"/>
            <a:ext cx="553212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6217920" y="562356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ounded Rectangle 122"/>
          <p:cNvSpPr/>
          <p:nvPr/>
        </p:nvSpPr>
        <p:spPr>
          <a:xfrm>
            <a:off x="6355080" y="566928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6355080" y="568756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125" name="TextBox 124"/>
          <p:cNvSpPr txBox="1"/>
          <p:nvPr/>
        </p:nvSpPr>
        <p:spPr>
          <a:xfrm>
            <a:off x="7498080" y="5696712"/>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Pattern of dummy entries across many forms</a:t>
            </a:r>
          </a:p>
        </p:txBody>
      </p:sp>
      <p:sp>
        <p:nvSpPr>
          <p:cNvPr id="126" name="Rounded Rectangle 125"/>
          <p:cNvSpPr/>
          <p:nvPr/>
        </p:nvSpPr>
        <p:spPr>
          <a:xfrm>
            <a:off x="6217920" y="6007608"/>
            <a:ext cx="553212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6217920" y="6007608"/>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ounded Rectangle 127"/>
          <p:cNvSpPr/>
          <p:nvPr/>
        </p:nvSpPr>
        <p:spPr>
          <a:xfrm>
            <a:off x="6355080" y="6053328"/>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6355080" y="6071616"/>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130" name="TextBox 129"/>
          <p:cNvSpPr txBox="1"/>
          <p:nvPr/>
        </p:nvSpPr>
        <p:spPr>
          <a:xfrm>
            <a:off x="7498080" y="6080760"/>
            <a:ext cx="411480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Repeated Track 1 after warning → may escalate</a:t>
            </a:r>
          </a:p>
        </p:txBody>
      </p:sp>
      <p:sp>
        <p:nvSpPr>
          <p:cNvPr id="131" name="Rectangle 130"/>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133" name="TextBox 132"/>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5  /  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Hard rules</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No exceptions in any district</a:t>
            </a:r>
          </a:p>
        </p:txBody>
      </p:sp>
      <p:sp>
        <p:nvSpPr>
          <p:cNvPr id="7" name="Rounded Rectangle 6"/>
          <p:cNvSpPr/>
          <p:nvPr/>
        </p:nvSpPr>
        <p:spPr>
          <a:xfrm>
            <a:off x="365760" y="123444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23444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In person only</a:t>
            </a:r>
          </a:p>
        </p:txBody>
      </p:sp>
      <p:sp>
        <p:nvSpPr>
          <p:cNvPr id="10" name="TextBox 9"/>
          <p:cNvSpPr txBox="1"/>
          <p:nvPr/>
        </p:nvSpPr>
        <p:spPr>
          <a:xfrm>
            <a:off x="594360" y="167335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Telephonic interviews are not allowed. Face-to-face only. Breaking this is Track 2.</a:t>
            </a:r>
          </a:p>
        </p:txBody>
      </p:sp>
      <p:sp>
        <p:nvSpPr>
          <p:cNvPr id="11" name="Rounded Rectangle 10"/>
          <p:cNvSpPr/>
          <p:nvPr/>
        </p:nvSpPr>
        <p:spPr>
          <a:xfrm>
            <a:off x="4251960" y="123444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234440"/>
            <a:ext cx="82296" cy="2240280"/>
          </a:xfrm>
          <a:prstGeom prst="rect">
            <a:avLst/>
          </a:prstGeom>
          <a:solidFill>
            <a:srgbClr val="A1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Completed cases stay locked</a:t>
            </a:r>
          </a:p>
        </p:txBody>
      </p:sp>
      <p:sp>
        <p:nvSpPr>
          <p:cNvPr id="14" name="TextBox 13"/>
          <p:cNvSpPr txBox="1"/>
          <p:nvPr/>
        </p:nvSpPr>
        <p:spPr>
          <a:xfrm>
            <a:off x="4480560" y="167335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Do not re-open without PIU / IE approval. Re-entry without approval is Track 2.</a:t>
            </a:r>
          </a:p>
        </p:txBody>
      </p:sp>
      <p:sp>
        <p:nvSpPr>
          <p:cNvPr id="15" name="Rounded Rectangle 14"/>
          <p:cNvSpPr/>
          <p:nvPr/>
        </p:nvSpPr>
        <p:spPr>
          <a:xfrm>
            <a:off x="8138160" y="123444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23444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67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Location must stay ON</a:t>
            </a:r>
          </a:p>
        </p:txBody>
      </p:sp>
      <p:sp>
        <p:nvSpPr>
          <p:cNvPr id="18" name="TextBox 17"/>
          <p:cNvSpPr txBox="1"/>
          <p:nvPr/>
        </p:nvSpPr>
        <p:spPr>
          <a:xfrm>
            <a:off x="8366760" y="167335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Keep tablet location on. Missing GPS is Track 1 first; wrong/fake GPS can be Track 2.</a:t>
            </a:r>
          </a:p>
        </p:txBody>
      </p:sp>
      <p:sp>
        <p:nvSpPr>
          <p:cNvPr id="19" name="Rounded Rectangle 18"/>
          <p:cNvSpPr/>
          <p:nvPr/>
        </p:nvSpPr>
        <p:spPr>
          <a:xfrm>
            <a:off x="365760" y="370332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3703320"/>
            <a:ext cx="82296" cy="2240280"/>
          </a:xfrm>
          <a:prstGeom prst="rect">
            <a:avLst/>
          </a:prstGeom>
          <a:solidFill>
            <a:srgbClr val="A1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383133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Minimum 15 minutes</a:t>
            </a:r>
          </a:p>
        </p:txBody>
      </p:sp>
      <p:sp>
        <p:nvSpPr>
          <p:cNvPr id="22" name="TextBox 21"/>
          <p:cNvSpPr txBox="1"/>
          <p:nvPr/>
        </p:nvSpPr>
        <p:spPr>
          <a:xfrm>
            <a:off x="594360" y="414223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Completed form under 15 minutes is Track 2 integrity, not a small timing flag.</a:t>
            </a:r>
          </a:p>
        </p:txBody>
      </p:sp>
      <p:sp>
        <p:nvSpPr>
          <p:cNvPr id="23" name="Rounded Rectangle 22"/>
          <p:cNvSpPr/>
          <p:nvPr/>
        </p:nvSpPr>
        <p:spPr>
          <a:xfrm>
            <a:off x="4251960" y="370332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51960" y="370332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80560" y="383133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Answer the daily call</a:t>
            </a:r>
          </a:p>
        </p:txBody>
      </p:sp>
      <p:sp>
        <p:nvSpPr>
          <p:cNvPr id="26" name="TextBox 25"/>
          <p:cNvSpPr txBox="1"/>
          <p:nvPr/>
        </p:nvSpPr>
        <p:spPr>
          <a:xfrm>
            <a:off x="4480560" y="414223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Track 1: explain honestly and follow guidance before the next field day.</a:t>
            </a:r>
          </a:p>
        </p:txBody>
      </p:sp>
      <p:sp>
        <p:nvSpPr>
          <p:cNvPr id="27" name="Rounded Rectangle 26"/>
          <p:cNvSpPr/>
          <p:nvPr/>
        </p:nvSpPr>
        <p:spPr>
          <a:xfrm>
            <a:off x="8138160" y="370332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138160" y="3703320"/>
            <a:ext cx="82296" cy="2240280"/>
          </a:xfrm>
          <a:prstGeom prst="rect">
            <a:avLst/>
          </a:prstGeom>
          <a:solidFill>
            <a:srgbClr val="A1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66760" y="383133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Real learning-test photo</a:t>
            </a:r>
          </a:p>
        </p:txBody>
      </p:sp>
      <p:sp>
        <p:nvSpPr>
          <p:cNvPr id="30" name="TextBox 29"/>
          <p:cNvSpPr txBox="1"/>
          <p:nvPr/>
        </p:nvSpPr>
        <p:spPr>
          <a:xfrm>
            <a:off x="8366760" y="414223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Upload a real completed page. Blank/random photo is Track 2 after field check.</a:t>
            </a:r>
          </a:p>
        </p:txBody>
      </p:sp>
      <p:sp>
        <p:nvSpPr>
          <p:cNvPr id="31" name="Rectangle 30"/>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33" name="TextBox 32"/>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6  /  20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Father and mother surveys</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Available + agreed consent = both surveys are mandatory</a:t>
            </a:r>
          </a:p>
        </p:txBody>
      </p:sp>
      <p:sp>
        <p:nvSpPr>
          <p:cNvPr id="7" name="Rounded Rectangle 6"/>
          <p:cNvSpPr/>
          <p:nvPr/>
        </p:nvSpPr>
        <p:spPr>
          <a:xfrm>
            <a:off x="411480" y="1188720"/>
            <a:ext cx="11338560" cy="1417320"/>
          </a:xfrm>
          <a:prstGeom prst="roundRect">
            <a:avLst>
              <a:gd name="adj" fmla="val 6000"/>
            </a:avLst>
          </a:prstGeom>
          <a:solidFill>
            <a:srgbClr val="FFF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71600"/>
            <a:ext cx="10881360" cy="1143000"/>
          </a:xfrm>
          <a:prstGeom prst="rect">
            <a:avLst/>
          </a:prstGeom>
          <a:noFill/>
        </p:spPr>
        <p:txBody>
          <a:bodyPr wrap="square">
            <a:spAutoFit/>
          </a:bodyPr>
          <a:lstStyle/>
          <a:p>
            <a:pPr algn="l">
              <a:lnSpc>
                <a:spcPct val="112000"/>
              </a:lnSpc>
              <a:spcAft>
                <a:spcPts val="300"/>
              </a:spcAft>
            </a:pPr>
            <a:r>
              <a:rPr sz="1500" b="0">
                <a:solidFill>
                  <a:srgbClr val="243447"/>
                </a:solidFill>
                <a:latin typeface="Calibri"/>
              </a:rPr>
              <a:t>Mandatory rule</a:t>
            </a:r>
          </a:p>
          <a:p>
            <a:pPr algn="l">
              <a:lnSpc>
                <a:spcPct val="112000"/>
              </a:lnSpc>
              <a:spcAft>
                <a:spcPts val="300"/>
              </a:spcAft>
            </a:pPr>
            <a:r>
              <a:rPr sz="1500" b="0">
                <a:solidFill>
                  <a:srgbClr val="243447"/>
                </a:solidFill>
                <a:latin typeface="Calibri"/>
              </a:rPr>
              <a:t>If the father is shown as available and consent is agreed, the father household survey must be submitted. If the mother is shown as available and consent is agreed, the mother household survey must be submitted. When both are available and both have agreed, both surveys are mandatory.</a:t>
            </a:r>
          </a:p>
        </p:txBody>
      </p:sp>
      <p:sp>
        <p:nvSpPr>
          <p:cNvPr id="9" name="Rounded Rectangle 8"/>
          <p:cNvSpPr/>
          <p:nvPr/>
        </p:nvSpPr>
        <p:spPr>
          <a:xfrm>
            <a:off x="411480" y="2880360"/>
            <a:ext cx="5532120" cy="320040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1480" y="2880360"/>
            <a:ext cx="82296" cy="3200400"/>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3008376"/>
            <a:ext cx="5166360"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What the script flags</a:t>
            </a:r>
          </a:p>
        </p:txBody>
      </p:sp>
      <p:sp>
        <p:nvSpPr>
          <p:cNvPr id="12" name="TextBox 11"/>
          <p:cNvSpPr txBox="1"/>
          <p:nvPr/>
        </p:nvSpPr>
        <p:spPr>
          <a:xfrm>
            <a:off x="640080" y="3319272"/>
            <a:ext cx="5166360" cy="2651760"/>
          </a:xfrm>
          <a:prstGeom prst="rect">
            <a:avLst/>
          </a:prstGeom>
          <a:noFill/>
        </p:spPr>
        <p:txBody>
          <a:bodyPr wrap="square">
            <a:spAutoFit/>
          </a:bodyPr>
          <a:lstStyle/>
          <a:p>
            <a:pPr algn="l">
              <a:lnSpc>
                <a:spcPct val="112000"/>
              </a:lnSpc>
              <a:spcAft>
                <a:spcPts val="300"/>
              </a:spcAft>
            </a:pPr>
            <a:r>
              <a:rPr sz="1300" b="0">
                <a:solidFill>
                  <a:srgbClr val="243447"/>
                </a:solidFill>
                <a:latin typeface="Calibri"/>
              </a:rPr>
              <a:t>•  Father consent agreed, but no father household submission for that girl</a:t>
            </a:r>
          </a:p>
          <a:p>
            <a:pPr algn="l">
              <a:lnSpc>
                <a:spcPct val="112000"/>
              </a:lnSpc>
              <a:spcAft>
                <a:spcPts val="300"/>
              </a:spcAft>
            </a:pPr>
            <a:r>
              <a:rPr sz="1300" b="0">
                <a:solidFill>
                  <a:srgbClr val="243447"/>
                </a:solidFill>
                <a:latin typeface="Calibri"/>
              </a:rPr>
              <a:t>•  Mother consent agreed, but no mother household submission for that girl</a:t>
            </a:r>
          </a:p>
          <a:p>
            <a:pPr algn="l">
              <a:lnSpc>
                <a:spcPct val="112000"/>
              </a:lnSpc>
              <a:spcAft>
                <a:spcPts val="300"/>
              </a:spcAft>
            </a:pPr>
            <a:r>
              <a:rPr sz="1300" b="0">
                <a:solidFill>
                  <a:srgbClr val="243447"/>
                </a:solidFill>
                <a:latin typeface="Calibri"/>
              </a:rPr>
              <a:t>•  High non-consent by enumerator (more than five cases)</a:t>
            </a:r>
          </a:p>
          <a:p>
            <a:pPr algn="l">
              <a:lnSpc>
                <a:spcPct val="112000"/>
              </a:lnSpc>
              <a:spcAft>
                <a:spcPts val="300"/>
              </a:spcAft>
            </a:pPr>
            <a:r>
              <a:rPr sz="1300" b="0">
                <a:solidFill>
                  <a:srgbClr val="243447"/>
                </a:solidFill>
                <a:latin typeface="Calibri"/>
              </a:rPr>
              <a:t>•  Consent screens tapped through (speed warning)</a:t>
            </a:r>
          </a:p>
          <a:p>
            <a:pPr algn="l">
              <a:lnSpc>
                <a:spcPct val="112000"/>
              </a:lnSpc>
              <a:spcAft>
                <a:spcPts val="300"/>
              </a:spcAft>
            </a:pPr>
            <a:endParaRPr sz="1300" b="0">
              <a:solidFill>
                <a:srgbClr val="243447"/>
              </a:solidFill>
              <a:latin typeface="Calibri"/>
            </a:endParaRPr>
          </a:p>
          <a:p>
            <a:pPr algn="l">
              <a:lnSpc>
                <a:spcPct val="112000"/>
              </a:lnSpc>
              <a:spcAft>
                <a:spcPts val="300"/>
              </a:spcAft>
            </a:pPr>
            <a:r>
              <a:rPr sz="1300" b="0">
                <a:solidFill>
                  <a:srgbClr val="243447"/>
                </a:solidFill>
                <a:latin typeface="Calibri"/>
              </a:rPr>
              <a:t>Recording agreed consent without submitting the survey is a quality failure.</a:t>
            </a:r>
          </a:p>
        </p:txBody>
      </p:sp>
      <p:sp>
        <p:nvSpPr>
          <p:cNvPr id="13" name="Rounded Rectangle 12"/>
          <p:cNvSpPr/>
          <p:nvPr/>
        </p:nvSpPr>
        <p:spPr>
          <a:xfrm>
            <a:off x="6217920" y="2880360"/>
            <a:ext cx="5532120" cy="320040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2880360"/>
            <a:ext cx="82296" cy="3200400"/>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3008376"/>
            <a:ext cx="5166360"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What you must do</a:t>
            </a:r>
          </a:p>
        </p:txBody>
      </p:sp>
      <p:sp>
        <p:nvSpPr>
          <p:cNvPr id="16" name="TextBox 15"/>
          <p:cNvSpPr txBox="1"/>
          <p:nvPr/>
        </p:nvSpPr>
        <p:spPr>
          <a:xfrm>
            <a:off x="6446520" y="3319272"/>
            <a:ext cx="5166360" cy="2651760"/>
          </a:xfrm>
          <a:prstGeom prst="rect">
            <a:avLst/>
          </a:prstGeom>
          <a:noFill/>
        </p:spPr>
        <p:txBody>
          <a:bodyPr wrap="square">
            <a:spAutoFit/>
          </a:bodyPr>
          <a:lstStyle/>
          <a:p>
            <a:pPr algn="l">
              <a:lnSpc>
                <a:spcPct val="112000"/>
              </a:lnSpc>
              <a:spcAft>
                <a:spcPts val="300"/>
              </a:spcAft>
            </a:pPr>
            <a:r>
              <a:rPr sz="1300" b="0">
                <a:solidFill>
                  <a:srgbClr val="243447"/>
                </a:solidFill>
                <a:latin typeface="Calibri"/>
              </a:rPr>
              <a:t>•  Confirm availability correctly</a:t>
            </a:r>
          </a:p>
          <a:p>
            <a:pPr algn="l">
              <a:lnSpc>
                <a:spcPct val="112000"/>
              </a:lnSpc>
              <a:spcAft>
                <a:spcPts val="300"/>
              </a:spcAft>
            </a:pPr>
            <a:r>
              <a:rPr sz="1300" b="0">
                <a:solidFill>
                  <a:srgbClr val="243447"/>
                </a:solidFill>
                <a:latin typeface="Calibri"/>
              </a:rPr>
              <a:t>•  Obtain real consent (read and explain)</a:t>
            </a:r>
          </a:p>
          <a:p>
            <a:pPr algn="l">
              <a:lnSpc>
                <a:spcPct val="112000"/>
              </a:lnSpc>
              <a:spcAft>
                <a:spcPts val="300"/>
              </a:spcAft>
            </a:pPr>
            <a:r>
              <a:rPr sz="1300" b="0">
                <a:solidFill>
                  <a:srgbClr val="243447"/>
                </a:solidFill>
                <a:latin typeface="Calibri"/>
              </a:rPr>
              <a:t>•  Complete and submit the matching survey</a:t>
            </a:r>
          </a:p>
          <a:p>
            <a:pPr algn="l">
              <a:lnSpc>
                <a:spcPct val="112000"/>
              </a:lnSpc>
              <a:spcAft>
                <a:spcPts val="300"/>
              </a:spcAft>
            </a:pPr>
            <a:r>
              <a:rPr sz="1300" b="0">
                <a:solidFill>
                  <a:srgbClr val="243447"/>
                </a:solidFill>
                <a:latin typeface="Calibri"/>
              </a:rPr>
              <a:t>•  If a parent is temporarily unavailable, complete the required follow-up / revisit</a:t>
            </a:r>
          </a:p>
          <a:p>
            <a:pPr algn="l">
              <a:lnSpc>
                <a:spcPct val="112000"/>
              </a:lnSpc>
              <a:spcAft>
                <a:spcPts val="300"/>
              </a:spcAft>
            </a:pPr>
            <a:r>
              <a:rPr sz="1300" b="0">
                <a:solidFill>
                  <a:srgbClr val="243447"/>
                </a:solidFill>
                <a:latin typeface="Calibri"/>
              </a:rPr>
              <a:t>•  Do not mark consent agreed and then skip that parent's form</a:t>
            </a:r>
          </a:p>
          <a:p>
            <a:pPr algn="l">
              <a:lnSpc>
                <a:spcPct val="112000"/>
              </a:lnSpc>
              <a:spcAft>
                <a:spcPts val="300"/>
              </a:spcAft>
            </a:pPr>
            <a:endParaRPr sz="1300" b="0">
              <a:solidFill>
                <a:srgbClr val="243447"/>
              </a:solidFill>
              <a:latin typeface="Calibri"/>
            </a:endParaRPr>
          </a:p>
          <a:p>
            <a:pPr algn="l">
              <a:lnSpc>
                <a:spcPct val="112000"/>
              </a:lnSpc>
              <a:spcAft>
                <a:spcPts val="300"/>
              </a:spcAft>
            </a:pPr>
            <a:r>
              <a:rPr sz="1300" b="0">
                <a:solidFill>
                  <a:srgbClr val="243447"/>
                </a:solidFill>
                <a:latin typeface="Calibri"/>
              </a:rPr>
              <a:t>Both parents available + both agreed = both forms in.</a:t>
            </a:r>
          </a:p>
        </p:txBody>
      </p:sp>
      <p:sp>
        <p:nvSpPr>
          <p:cNvPr id="17" name="Rectangle 16"/>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19" name="TextBox 18"/>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7  /  20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Consent</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A recorded Yes is not enough if the screen was tapped through</a:t>
            </a:r>
          </a:p>
        </p:txBody>
      </p:sp>
      <p:sp>
        <p:nvSpPr>
          <p:cNvPr id="7" name="Rounded Rectangle 6"/>
          <p:cNvSpPr/>
          <p:nvPr/>
        </p:nvSpPr>
        <p:spPr>
          <a:xfrm>
            <a:off x="411480" y="1188720"/>
            <a:ext cx="5532120" cy="2148840"/>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325880"/>
            <a:ext cx="5120640" cy="274320"/>
          </a:xfrm>
          <a:prstGeom prst="rect">
            <a:avLst/>
          </a:prstGeom>
          <a:noFill/>
        </p:spPr>
        <p:txBody>
          <a:bodyPr wrap="square">
            <a:spAutoFit/>
          </a:bodyPr>
          <a:lstStyle/>
          <a:p>
            <a:pPr algn="l">
              <a:lnSpc>
                <a:spcPct val="112000"/>
              </a:lnSpc>
              <a:spcAft>
                <a:spcPts val="0"/>
              </a:spcAft>
            </a:pPr>
            <a:r>
              <a:rPr sz="1200" b="1">
                <a:solidFill>
                  <a:srgbClr val="1B6B5A"/>
                </a:solidFill>
                <a:latin typeface="Calibri"/>
              </a:rPr>
              <a:t>DO</a:t>
            </a:r>
          </a:p>
        </p:txBody>
      </p:sp>
      <p:sp>
        <p:nvSpPr>
          <p:cNvPr id="9" name="TextBox 8"/>
          <p:cNvSpPr txBox="1"/>
          <p:nvPr/>
        </p:nvSpPr>
        <p:spPr>
          <a:xfrm>
            <a:off x="640080" y="1645920"/>
            <a:ext cx="5120640" cy="1554480"/>
          </a:xfrm>
          <a:prstGeom prst="rect">
            <a:avLst/>
          </a:prstGeom>
          <a:noFill/>
        </p:spPr>
        <p:txBody>
          <a:bodyPr wrap="square">
            <a:spAutoFit/>
          </a:bodyPr>
          <a:lstStyle/>
          <a:p>
            <a:pPr algn="l">
              <a:lnSpc>
                <a:spcPct val="112000"/>
              </a:lnSpc>
              <a:spcAft>
                <a:spcPts val="400"/>
              </a:spcAft>
            </a:pPr>
            <a:r>
              <a:rPr sz="1400" b="0">
                <a:solidFill>
                  <a:srgbClr val="243447"/>
                </a:solidFill>
                <a:latin typeface="Calibri"/>
              </a:rPr>
              <a:t>Read and explain consent. Give the respondent time.</a:t>
            </a:r>
          </a:p>
          <a:p>
            <a:pPr algn="l">
              <a:lnSpc>
                <a:spcPct val="112000"/>
              </a:lnSpc>
              <a:spcAft>
                <a:spcPts val="400"/>
              </a:spcAft>
            </a:pPr>
            <a:r>
              <a:rPr sz="1400" b="0">
                <a:solidFill>
                  <a:srgbClr val="243447"/>
                </a:solidFill>
                <a:latin typeface="Calibri"/>
              </a:rPr>
              <a:t>Record only after the procedure is done.</a:t>
            </a:r>
          </a:p>
          <a:p>
            <a:pPr algn="l">
              <a:lnSpc>
                <a:spcPct val="112000"/>
              </a:lnSpc>
              <a:spcAft>
                <a:spcPts val="400"/>
              </a:spcAft>
            </a:pPr>
            <a:r>
              <a:rPr sz="1400" b="0">
                <a:solidFill>
                  <a:srgbClr val="243447"/>
                </a:solidFill>
                <a:latin typeface="Calibri"/>
              </a:rPr>
              <a:t>If consent is refused on Girls, mark Incomplete.</a:t>
            </a:r>
          </a:p>
        </p:txBody>
      </p:sp>
      <p:sp>
        <p:nvSpPr>
          <p:cNvPr id="10" name="Rounded Rectangle 9"/>
          <p:cNvSpPr/>
          <p:nvPr/>
        </p:nvSpPr>
        <p:spPr>
          <a:xfrm>
            <a:off x="6217920" y="1188720"/>
            <a:ext cx="5532120" cy="2148840"/>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325880"/>
            <a:ext cx="5120640" cy="274320"/>
          </a:xfrm>
          <a:prstGeom prst="rect">
            <a:avLst/>
          </a:prstGeom>
          <a:noFill/>
        </p:spPr>
        <p:txBody>
          <a:bodyPr wrap="square">
            <a:spAutoFit/>
          </a:bodyPr>
          <a:lstStyle/>
          <a:p>
            <a:pPr algn="l">
              <a:lnSpc>
                <a:spcPct val="112000"/>
              </a:lnSpc>
              <a:spcAft>
                <a:spcPts val="0"/>
              </a:spcAft>
            </a:pPr>
            <a:r>
              <a:rPr sz="1200" b="1">
                <a:solidFill>
                  <a:srgbClr val="8B1E3F"/>
                </a:solidFill>
                <a:latin typeface="Calibri"/>
              </a:rPr>
              <a:t>DON'T</a:t>
            </a:r>
          </a:p>
        </p:txBody>
      </p:sp>
      <p:sp>
        <p:nvSpPr>
          <p:cNvPr id="12" name="TextBox 11"/>
          <p:cNvSpPr txBox="1"/>
          <p:nvPr/>
        </p:nvSpPr>
        <p:spPr>
          <a:xfrm>
            <a:off x="6446520" y="1645920"/>
            <a:ext cx="5120640" cy="1554480"/>
          </a:xfrm>
          <a:prstGeom prst="rect">
            <a:avLst/>
          </a:prstGeom>
          <a:noFill/>
        </p:spPr>
        <p:txBody>
          <a:bodyPr wrap="square">
            <a:spAutoFit/>
          </a:bodyPr>
          <a:lstStyle/>
          <a:p>
            <a:pPr algn="l">
              <a:lnSpc>
                <a:spcPct val="112000"/>
              </a:lnSpc>
              <a:spcAft>
                <a:spcPts val="400"/>
              </a:spcAft>
            </a:pPr>
            <a:r>
              <a:rPr sz="1400" b="0">
                <a:solidFill>
                  <a:srgbClr val="243447"/>
                </a:solidFill>
                <a:latin typeface="Calibri"/>
              </a:rPr>
              <a:t>Tap through consent screens quickly.</a:t>
            </a:r>
          </a:p>
          <a:p>
            <a:pPr algn="l">
              <a:lnSpc>
                <a:spcPct val="112000"/>
              </a:lnSpc>
              <a:spcAft>
                <a:spcPts val="400"/>
              </a:spcAft>
            </a:pPr>
            <a:r>
              <a:rPr sz="1400" b="0">
                <a:solidFill>
                  <a:srgbClr val="243447"/>
                </a:solidFill>
                <a:latin typeface="Calibri"/>
              </a:rPr>
              <a:t>A speed warning means the screen was open too briefly.</a:t>
            </a:r>
          </a:p>
          <a:p>
            <a:pPr algn="l">
              <a:lnSpc>
                <a:spcPct val="112000"/>
              </a:lnSpc>
              <a:spcAft>
                <a:spcPts val="400"/>
              </a:spcAft>
            </a:pPr>
            <a:r>
              <a:rPr sz="1400" b="0">
                <a:solidFill>
                  <a:srgbClr val="243447"/>
                </a:solidFill>
                <a:latin typeface="Calibri"/>
              </a:rPr>
              <a:t>Do not mark Complete when consent was refused.</a:t>
            </a:r>
          </a:p>
        </p:txBody>
      </p:sp>
      <p:sp>
        <p:nvSpPr>
          <p:cNvPr id="13" name="Rounded Rectangle 12"/>
          <p:cNvSpPr/>
          <p:nvPr/>
        </p:nvSpPr>
        <p:spPr>
          <a:xfrm>
            <a:off x="411480" y="3566160"/>
            <a:ext cx="5532120" cy="24688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1480" y="3566160"/>
            <a:ext cx="82296" cy="24688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694176"/>
            <a:ext cx="5166360"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Girls consent rules</a:t>
            </a:r>
          </a:p>
        </p:txBody>
      </p:sp>
      <p:sp>
        <p:nvSpPr>
          <p:cNvPr id="16" name="TextBox 15"/>
          <p:cNvSpPr txBox="1"/>
          <p:nvPr/>
        </p:nvSpPr>
        <p:spPr>
          <a:xfrm>
            <a:off x="640080" y="4005072"/>
            <a:ext cx="5166360" cy="1920240"/>
          </a:xfrm>
          <a:prstGeom prst="rect">
            <a:avLst/>
          </a:prstGeom>
          <a:noFill/>
        </p:spPr>
        <p:txBody>
          <a:bodyPr wrap="square">
            <a:spAutoFit/>
          </a:bodyPr>
          <a:lstStyle/>
          <a:p>
            <a:pPr algn="l">
              <a:lnSpc>
                <a:spcPct val="112000"/>
              </a:lnSpc>
              <a:spcAft>
                <a:spcPts val="300"/>
              </a:spcAft>
            </a:pPr>
            <a:r>
              <a:rPr sz="1300" b="0">
                <a:solidFill>
                  <a:srgbClr val="243447"/>
                </a:solidFill>
                <a:latin typeface="Calibri"/>
              </a:rPr>
              <a:t>•  Interview is not valid without parental consent</a:t>
            </a:r>
          </a:p>
          <a:p>
            <a:pPr algn="l">
              <a:lnSpc>
                <a:spcPct val="112000"/>
              </a:lnSpc>
              <a:spcAft>
                <a:spcPts val="300"/>
              </a:spcAft>
            </a:pPr>
            <a:r>
              <a:rPr sz="1300" b="0">
                <a:solidFill>
                  <a:srgbClr val="243447"/>
                </a:solidFill>
                <a:latin typeface="Calibri"/>
              </a:rPr>
              <a:t>•  Parental consent not confirmed is flagged</a:t>
            </a:r>
          </a:p>
          <a:p>
            <a:pPr algn="l">
              <a:lnSpc>
                <a:spcPct val="112000"/>
              </a:lnSpc>
              <a:spcAft>
                <a:spcPts val="300"/>
              </a:spcAft>
            </a:pPr>
            <a:r>
              <a:rPr sz="1300" b="0">
                <a:solidFill>
                  <a:srgbClr val="243447"/>
                </a:solidFill>
                <a:latin typeface="Calibri"/>
              </a:rPr>
              <a:t>•  Consent refused but marked Complete is flagged</a:t>
            </a:r>
          </a:p>
          <a:p>
            <a:pPr algn="l">
              <a:lnSpc>
                <a:spcPct val="112000"/>
              </a:lnSpc>
              <a:spcAft>
                <a:spcPts val="300"/>
              </a:spcAft>
            </a:pPr>
            <a:r>
              <a:rPr sz="1300" b="0">
                <a:solidFill>
                  <a:srgbClr val="243447"/>
                </a:solidFill>
                <a:latin typeface="Calibri"/>
              </a:rPr>
              <a:t>•  Parental or child consent tap-through is integrity (Track 2)</a:t>
            </a:r>
          </a:p>
        </p:txBody>
      </p:sp>
      <p:sp>
        <p:nvSpPr>
          <p:cNvPr id="17" name="Rounded Rectangle 16"/>
          <p:cNvSpPr/>
          <p:nvPr/>
        </p:nvSpPr>
        <p:spPr>
          <a:xfrm>
            <a:off x="6217920" y="3566160"/>
            <a:ext cx="5532120" cy="24688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0" y="3566160"/>
            <a:ext cx="82296" cy="2468880"/>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3694176"/>
            <a:ext cx="5166360"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Integrity consequence</a:t>
            </a:r>
          </a:p>
        </p:txBody>
      </p:sp>
      <p:sp>
        <p:nvSpPr>
          <p:cNvPr id="20" name="TextBox 19"/>
          <p:cNvSpPr txBox="1"/>
          <p:nvPr/>
        </p:nvSpPr>
        <p:spPr>
          <a:xfrm>
            <a:off x="6446520" y="4005072"/>
            <a:ext cx="5166360" cy="1920240"/>
          </a:xfrm>
          <a:prstGeom prst="rect">
            <a:avLst/>
          </a:prstGeom>
          <a:noFill/>
        </p:spPr>
        <p:txBody>
          <a:bodyPr wrap="square">
            <a:spAutoFit/>
          </a:bodyPr>
          <a:lstStyle/>
          <a:p>
            <a:pPr algn="l">
              <a:lnSpc>
                <a:spcPct val="112000"/>
              </a:lnSpc>
              <a:spcAft>
                <a:spcPts val="300"/>
              </a:spcAft>
            </a:pPr>
            <a:r>
              <a:rPr sz="1300" b="0">
                <a:solidFill>
                  <a:srgbClr val="243447"/>
                </a:solidFill>
                <a:latin typeface="Calibri"/>
              </a:rPr>
              <a:t>Consent screens tapped through = Track 2.</a:t>
            </a:r>
          </a:p>
          <a:p>
            <a:pPr algn="l">
              <a:lnSpc>
                <a:spcPct val="112000"/>
              </a:lnSpc>
              <a:spcAft>
                <a:spcPts val="300"/>
              </a:spcAft>
            </a:pPr>
            <a:r>
              <a:rPr sz="1300" b="0">
                <a:solidFill>
                  <a:srgbClr val="243447"/>
                </a:solidFill>
                <a:latin typeface="Calibri"/>
              </a:rPr>
              <a:t>You may be suspended pending investigation.</a:t>
            </a:r>
          </a:p>
          <a:p>
            <a:pPr algn="l">
              <a:lnSpc>
                <a:spcPct val="112000"/>
              </a:lnSpc>
              <a:spcAft>
                <a:spcPts val="300"/>
              </a:spcAft>
            </a:pPr>
            <a:r>
              <a:rPr sz="1300" b="0">
                <a:solidFill>
                  <a:srgbClr val="243447"/>
                </a:solidFill>
                <a:latin typeface="Calibri"/>
              </a:rPr>
              <a:t>PIU is notified in writing within 24 hours.</a:t>
            </a:r>
          </a:p>
          <a:p>
            <a:pPr algn="l">
              <a:lnSpc>
                <a:spcPct val="112000"/>
              </a:lnSpc>
              <a:spcAft>
                <a:spcPts val="300"/>
              </a:spcAft>
            </a:pPr>
            <a:r>
              <a:rPr sz="1300" b="0">
                <a:solidFill>
                  <a:srgbClr val="243447"/>
                </a:solidFill>
                <a:latin typeface="Calibri"/>
              </a:rPr>
              <a:t>If consent was not actually obtained, the case will be resurveyed.</a:t>
            </a:r>
          </a:p>
        </p:txBody>
      </p:sp>
      <p:sp>
        <p:nvSpPr>
          <p:cNvPr id="21" name="Rectangle 20"/>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23" name="TextBox 22"/>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8  /  20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Household roster and listed girl</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Get the sample girl right the first time</a:t>
            </a:r>
          </a:p>
        </p:txBody>
      </p:sp>
      <p:sp>
        <p:nvSpPr>
          <p:cNvPr id="7" name="Rounded Rectangle 6"/>
          <p:cNvSpPr/>
          <p:nvPr/>
        </p:nvSpPr>
        <p:spPr>
          <a:xfrm>
            <a:off x="365760" y="123444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23444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Listed girl on roster</a:t>
            </a:r>
          </a:p>
        </p:txBody>
      </p:sp>
      <p:sp>
        <p:nvSpPr>
          <p:cNvPr id="10" name="TextBox 9"/>
          <p:cNvSpPr txBox="1"/>
          <p:nvPr/>
        </p:nvSpPr>
        <p:spPr>
          <a:xfrm>
            <a:off x="594360" y="167335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She must appear in the siblings roster. Missing listed girl triggers investigation and resurvey.</a:t>
            </a:r>
          </a:p>
        </p:txBody>
      </p:sp>
      <p:sp>
        <p:nvSpPr>
          <p:cNvPr id="11" name="Rounded Rectangle 10"/>
          <p:cNvSpPr/>
          <p:nvPr/>
        </p:nvSpPr>
        <p:spPr>
          <a:xfrm>
            <a:off x="4251960" y="123444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23444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First entry</a:t>
            </a:r>
          </a:p>
        </p:txBody>
      </p:sp>
      <p:sp>
        <p:nvSpPr>
          <p:cNvPr id="14" name="TextBox 13"/>
          <p:cNvSpPr txBox="1"/>
          <p:nvPr/>
        </p:nvSpPr>
        <p:spPr>
          <a:xfrm>
            <a:off x="4480560" y="167335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She must be the first entry in the siblings roster.</a:t>
            </a:r>
          </a:p>
        </p:txBody>
      </p:sp>
      <p:sp>
        <p:nvSpPr>
          <p:cNvPr id="15" name="Rounded Rectangle 14"/>
          <p:cNvSpPr/>
          <p:nvPr/>
        </p:nvSpPr>
        <p:spPr>
          <a:xfrm>
            <a:off x="8138160" y="123444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23444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67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Spelling = girl_label</a:t>
            </a:r>
          </a:p>
        </p:txBody>
      </p:sp>
      <p:sp>
        <p:nvSpPr>
          <p:cNvPr id="18" name="TextBox 17"/>
          <p:cNvSpPr txBox="1"/>
          <p:nvPr/>
        </p:nvSpPr>
        <p:spPr>
          <a:xfrm>
            <a:off x="8366760" y="167335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Name spelling must match girl_label exactly, or matching fails.</a:t>
            </a:r>
          </a:p>
        </p:txBody>
      </p:sp>
      <p:sp>
        <p:nvSpPr>
          <p:cNvPr id="19" name="Rounded Rectangle 18"/>
          <p:cNvSpPr/>
          <p:nvPr/>
        </p:nvSpPr>
        <p:spPr>
          <a:xfrm>
            <a:off x="365760" y="370332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370332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383133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Household size</a:t>
            </a:r>
          </a:p>
        </p:txBody>
      </p:sp>
      <p:sp>
        <p:nvSpPr>
          <p:cNvPr id="22" name="TextBox 21"/>
          <p:cNvSpPr txBox="1"/>
          <p:nvPr/>
        </p:nvSpPr>
        <p:spPr>
          <a:xfrm>
            <a:off x="594360" y="414223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Reported size must match members listed. Extremely small or large households are verified.</a:t>
            </a:r>
          </a:p>
        </p:txBody>
      </p:sp>
      <p:sp>
        <p:nvSpPr>
          <p:cNvPr id="23" name="Rounded Rectangle 22"/>
          <p:cNvSpPr/>
          <p:nvPr/>
        </p:nvSpPr>
        <p:spPr>
          <a:xfrm>
            <a:off x="4251960" y="370332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51960" y="370332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80560" y="383133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No dummies</a:t>
            </a:r>
          </a:p>
        </p:txBody>
      </p:sp>
      <p:sp>
        <p:nvSpPr>
          <p:cNvPr id="26" name="TextBox 25"/>
          <p:cNvSpPr txBox="1"/>
          <p:nvPr/>
        </p:nvSpPr>
        <p:spPr>
          <a:xfrm>
            <a:off x="4480560" y="414223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No filler names, fake phones, or placeholder addresses / landmarks.</a:t>
            </a:r>
          </a:p>
        </p:txBody>
      </p:sp>
      <p:sp>
        <p:nvSpPr>
          <p:cNvPr id="27" name="Rounded Rectangle 26"/>
          <p:cNvSpPr/>
          <p:nvPr/>
        </p:nvSpPr>
        <p:spPr>
          <a:xfrm>
            <a:off x="8138160" y="370332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138160" y="370332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66760" y="383133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Ages &amp; relationships</a:t>
            </a:r>
          </a:p>
        </p:txBody>
      </p:sp>
      <p:sp>
        <p:nvSpPr>
          <p:cNvPr id="30" name="TextBox 29"/>
          <p:cNvSpPr txBox="1"/>
          <p:nvPr/>
        </p:nvSpPr>
        <p:spPr>
          <a:xfrm>
            <a:off x="8366760" y="414223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No negative ages, impossible parent-child ages, or guessed ages (heaping).</a:t>
            </a:r>
          </a:p>
        </p:txBody>
      </p:sp>
      <p:sp>
        <p:nvSpPr>
          <p:cNvPr id="31" name="Rectangle 30"/>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33" name="TextBox 32"/>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9  /  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GPS and location</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Be where the interview is</a:t>
            </a:r>
          </a:p>
        </p:txBody>
      </p:sp>
      <p:sp>
        <p:nvSpPr>
          <p:cNvPr id="7" name="Rounded Rectangle 6"/>
          <p:cNvSpPr/>
          <p:nvPr/>
        </p:nvSpPr>
        <p:spPr>
          <a:xfrm>
            <a:off x="365760" y="123444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23444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Location ON</a:t>
            </a:r>
          </a:p>
        </p:txBody>
      </p:sp>
      <p:sp>
        <p:nvSpPr>
          <p:cNvPr id="10" name="TextBox 9"/>
          <p:cNvSpPr txBox="1"/>
          <p:nvPr/>
        </p:nvSpPr>
        <p:spPr>
          <a:xfrm>
            <a:off x="594360" y="167335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Turn location on before you start. Keep it on until you finish. Restated in every debrief call.</a:t>
            </a:r>
          </a:p>
        </p:txBody>
      </p:sp>
      <p:sp>
        <p:nvSpPr>
          <p:cNvPr id="11" name="Rounded Rectangle 10"/>
          <p:cNvSpPr/>
          <p:nvPr/>
        </p:nvSpPr>
        <p:spPr>
          <a:xfrm>
            <a:off x="4251960" y="123444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234440"/>
            <a:ext cx="82296" cy="2240280"/>
          </a:xfrm>
          <a:prstGeom prst="rect">
            <a:avLst/>
          </a:prstGeom>
          <a:solidFill>
            <a:srgbClr val="A1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No internet needed</a:t>
            </a:r>
          </a:p>
        </p:txBody>
      </p:sp>
      <p:sp>
        <p:nvSpPr>
          <p:cNvPr id="14" name="TextBox 13"/>
          <p:cNvSpPr txBox="1"/>
          <p:nvPr/>
        </p:nvSpPr>
        <p:spPr>
          <a:xfrm>
            <a:off x="4480560" y="167335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The form captures GPS at intervals without internet. Do not invent points.</a:t>
            </a:r>
          </a:p>
        </p:txBody>
      </p:sp>
      <p:sp>
        <p:nvSpPr>
          <p:cNvPr id="15" name="Rounded Rectangle 14"/>
          <p:cNvSpPr/>
          <p:nvPr/>
        </p:nvSpPr>
        <p:spPr>
          <a:xfrm>
            <a:off x="8138160" y="123444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23444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67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Same place for both surveys</a:t>
            </a:r>
          </a:p>
        </p:txBody>
      </p:sp>
      <p:sp>
        <p:nvSpPr>
          <p:cNvPr id="18" name="TextBox 17"/>
          <p:cNvSpPr txBox="1"/>
          <p:nvPr/>
        </p:nvSpPr>
        <p:spPr>
          <a:xfrm>
            <a:off x="8366760" y="167335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For the same girl ID, Girls GPS must match Household GPS.</a:t>
            </a:r>
          </a:p>
        </p:txBody>
      </p:sp>
      <p:sp>
        <p:nvSpPr>
          <p:cNvPr id="19" name="Rounded Rectangle 18"/>
          <p:cNvSpPr/>
          <p:nvPr/>
        </p:nvSpPr>
        <p:spPr>
          <a:xfrm>
            <a:off x="365760" y="370332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3703320"/>
            <a:ext cx="82296" cy="2240280"/>
          </a:xfrm>
          <a:prstGeom prst="rect">
            <a:avLst/>
          </a:prstGeom>
          <a:solidFill>
            <a:srgbClr val="A1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383133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What is flagged</a:t>
            </a:r>
          </a:p>
        </p:txBody>
      </p:sp>
      <p:sp>
        <p:nvSpPr>
          <p:cNvPr id="22" name="TextBox 21"/>
          <p:cNvSpPr txBox="1"/>
          <p:nvPr/>
        </p:nvSpPr>
        <p:spPr>
          <a:xfrm>
            <a:off x="594360" y="414223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Missing GPS; outside district box; far from other interviews in the village; jump of 2 km+ while form is open; one location under many village names.</a:t>
            </a:r>
          </a:p>
        </p:txBody>
      </p:sp>
      <p:sp>
        <p:nvSpPr>
          <p:cNvPr id="23" name="Rounded Rectangle 22"/>
          <p:cNvSpPr/>
          <p:nvPr/>
        </p:nvSpPr>
        <p:spPr>
          <a:xfrm>
            <a:off x="4251960" y="370332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51960" y="370332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80560" y="383133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Wrong place = resurvey</a:t>
            </a:r>
          </a:p>
        </p:txBody>
      </p:sp>
      <p:sp>
        <p:nvSpPr>
          <p:cNvPr id="26" name="TextBox 25"/>
          <p:cNvSpPr txBox="1"/>
          <p:nvPr/>
        </p:nvSpPr>
        <p:spPr>
          <a:xfrm>
            <a:off x="4480560" y="414223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Inconsistent GPS can trigger a repeat survey and can open Track 2.</a:t>
            </a:r>
          </a:p>
        </p:txBody>
      </p:sp>
      <p:sp>
        <p:nvSpPr>
          <p:cNvPr id="27" name="Rounded Rectangle 26"/>
          <p:cNvSpPr/>
          <p:nvPr/>
        </p:nvSpPr>
        <p:spPr>
          <a:xfrm>
            <a:off x="8138160" y="370332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138160" y="3703320"/>
            <a:ext cx="82296" cy="2240280"/>
          </a:xfrm>
          <a:prstGeom prst="rect">
            <a:avLst/>
          </a:prstGeom>
          <a:solidFill>
            <a:srgbClr val="A1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66760" y="383133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Residential check</a:t>
            </a:r>
          </a:p>
        </p:txBody>
      </p:sp>
      <p:sp>
        <p:nvSpPr>
          <p:cNvPr id="30" name="TextBox 29"/>
          <p:cNvSpPr txBox="1"/>
          <p:nvPr/>
        </p:nvSpPr>
        <p:spPr>
          <a:xfrm>
            <a:off x="8366760" y="414223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Supervisor (Male) may confirm in the field that the visit took place at a real residential location.</a:t>
            </a:r>
          </a:p>
        </p:txBody>
      </p:sp>
      <p:sp>
        <p:nvSpPr>
          <p:cNvPr id="31" name="Rectangle 30"/>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33" name="TextBox 32"/>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10  /  20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Interview timing</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15 minutes is the floor for a completed form</a:t>
            </a:r>
          </a:p>
        </p:txBody>
      </p:sp>
      <p:sp>
        <p:nvSpPr>
          <p:cNvPr id="7" name="Rounded Rectangle 6"/>
          <p:cNvSpPr/>
          <p:nvPr/>
        </p:nvSpPr>
        <p:spPr>
          <a:xfrm>
            <a:off x="411480" y="1188720"/>
            <a:ext cx="11338560" cy="1554480"/>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71600"/>
            <a:ext cx="10881360" cy="1234440"/>
          </a:xfrm>
          <a:prstGeom prst="rect">
            <a:avLst/>
          </a:prstGeom>
          <a:noFill/>
        </p:spPr>
        <p:txBody>
          <a:bodyPr wrap="square">
            <a:spAutoFit/>
          </a:bodyPr>
          <a:lstStyle/>
          <a:p>
            <a:pPr algn="l">
              <a:lnSpc>
                <a:spcPct val="112000"/>
              </a:lnSpc>
              <a:spcAft>
                <a:spcPts val="300"/>
              </a:spcAft>
            </a:pPr>
            <a:r>
              <a:rPr sz="1500" b="0">
                <a:solidFill>
                  <a:srgbClr val="243447"/>
                </a:solidFill>
                <a:latin typeface="Calibri"/>
              </a:rPr>
              <a:t>Under 15 minutes = integrity track</a:t>
            </a:r>
          </a:p>
          <a:p>
            <a:pPr algn="l">
              <a:lnSpc>
                <a:spcPct val="112000"/>
              </a:lnSpc>
              <a:spcAft>
                <a:spcPts val="300"/>
              </a:spcAft>
            </a:pPr>
            <a:r>
              <a:rPr sz="1500" b="0">
                <a:solidFill>
                  <a:srgbClr val="243447"/>
                </a:solidFill>
                <a:latin typeface="Calibri"/>
              </a:rPr>
              <a:t>A completed Household form (consent + roster) or Girls form (consent + modules + reading/math) finished in under 15 minutes is not a routine timing flag. It can lead to suspension and resurvey. Same rule applies to remaining work in Torghar.</a:t>
            </a:r>
          </a:p>
        </p:txBody>
      </p:sp>
      <p:sp>
        <p:nvSpPr>
          <p:cNvPr id="9" name="Rounded Rectangle 8"/>
          <p:cNvSpPr/>
          <p:nvPr/>
        </p:nvSpPr>
        <p:spPr>
          <a:xfrm>
            <a:off x="411480" y="3017520"/>
            <a:ext cx="5532120" cy="301752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1480" y="3017520"/>
            <a:ext cx="82296" cy="3017520"/>
          </a:xfrm>
          <a:prstGeom prst="rect">
            <a:avLst/>
          </a:prstGeom>
          <a:solidFill>
            <a:srgbClr val="A1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3145536"/>
            <a:ext cx="5166360"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Also flagged</a:t>
            </a:r>
          </a:p>
        </p:txBody>
      </p:sp>
      <p:sp>
        <p:nvSpPr>
          <p:cNvPr id="12" name="TextBox 11"/>
          <p:cNvSpPr txBox="1"/>
          <p:nvPr/>
        </p:nvSpPr>
        <p:spPr>
          <a:xfrm>
            <a:off x="640080" y="3456432"/>
            <a:ext cx="5166360" cy="2468880"/>
          </a:xfrm>
          <a:prstGeom prst="rect">
            <a:avLst/>
          </a:prstGeom>
          <a:noFill/>
        </p:spPr>
        <p:txBody>
          <a:bodyPr wrap="square">
            <a:spAutoFit/>
          </a:bodyPr>
          <a:lstStyle/>
          <a:p>
            <a:pPr algn="l">
              <a:lnSpc>
                <a:spcPct val="112000"/>
              </a:lnSpc>
              <a:spcAft>
                <a:spcPts val="300"/>
              </a:spcAft>
            </a:pPr>
            <a:r>
              <a:rPr sz="1300" b="0">
                <a:solidFill>
                  <a:srgbClr val="243447"/>
                </a:solidFill>
                <a:latin typeface="Calibri"/>
              </a:rPr>
              <a:t>•  Late-night starts outside agreed field hours</a:t>
            </a:r>
          </a:p>
          <a:p>
            <a:pPr algn="l">
              <a:lnSpc>
                <a:spcPct val="112000"/>
              </a:lnSpc>
              <a:spcAft>
                <a:spcPts val="300"/>
              </a:spcAft>
            </a:pPr>
            <a:r>
              <a:rPr sz="1300" b="0">
                <a:solidFill>
                  <a:srgbClr val="243447"/>
                </a:solidFill>
                <a:latin typeface="Calibri"/>
              </a:rPr>
              <a:t>•  Re-interview of a completed case at night</a:t>
            </a:r>
          </a:p>
          <a:p>
            <a:pPr algn="l">
              <a:lnSpc>
                <a:spcPct val="112000"/>
              </a:lnSpc>
              <a:spcAft>
                <a:spcPts val="300"/>
              </a:spcAft>
            </a:pPr>
            <a:r>
              <a:rPr sz="1300" b="0">
                <a:solidFill>
                  <a:srgbClr val="243447"/>
                </a:solidFill>
                <a:latin typeface="Calibri"/>
              </a:rPr>
              <a:t>•  End time before start time</a:t>
            </a:r>
          </a:p>
          <a:p>
            <a:pPr algn="l">
              <a:lnSpc>
                <a:spcPct val="112000"/>
              </a:lnSpc>
              <a:spcAft>
                <a:spcPts val="300"/>
              </a:spcAft>
            </a:pPr>
            <a:r>
              <a:rPr sz="1300" b="0">
                <a:solidFill>
                  <a:srgbClr val="243447"/>
                </a:solidFill>
                <a:latin typeface="Calibri"/>
              </a:rPr>
              <a:t>•  Impossible year on the tablet clock</a:t>
            </a:r>
          </a:p>
          <a:p>
            <a:pPr algn="l">
              <a:lnSpc>
                <a:spcPct val="112000"/>
              </a:lnSpc>
              <a:spcAft>
                <a:spcPts val="300"/>
              </a:spcAft>
            </a:pPr>
            <a:r>
              <a:rPr sz="1300" b="0">
                <a:solidFill>
                  <a:srgbClr val="243447"/>
                </a:solidFill>
                <a:latin typeface="Calibri"/>
              </a:rPr>
              <a:t>•  Implausibly long duration (form left open)</a:t>
            </a:r>
          </a:p>
          <a:p>
            <a:pPr algn="l">
              <a:lnSpc>
                <a:spcPct val="112000"/>
              </a:lnSpc>
              <a:spcAft>
                <a:spcPts val="300"/>
              </a:spcAft>
            </a:pPr>
            <a:r>
              <a:rPr sz="1300" b="0">
                <a:solidFill>
                  <a:srgbClr val="243447"/>
                </a:solidFill>
                <a:latin typeface="Calibri"/>
              </a:rPr>
              <a:t>•  High speed-warning count across questions</a:t>
            </a:r>
          </a:p>
        </p:txBody>
      </p:sp>
      <p:sp>
        <p:nvSpPr>
          <p:cNvPr id="13" name="Rounded Rectangle 12"/>
          <p:cNvSpPr/>
          <p:nvPr/>
        </p:nvSpPr>
        <p:spPr>
          <a:xfrm>
            <a:off x="6217920" y="3017520"/>
            <a:ext cx="5532120" cy="301752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3017520"/>
            <a:ext cx="82296" cy="3017520"/>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3145536"/>
            <a:ext cx="5166360"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Your practice</a:t>
            </a:r>
          </a:p>
        </p:txBody>
      </p:sp>
      <p:sp>
        <p:nvSpPr>
          <p:cNvPr id="16" name="TextBox 15"/>
          <p:cNvSpPr txBox="1"/>
          <p:nvPr/>
        </p:nvSpPr>
        <p:spPr>
          <a:xfrm>
            <a:off x="6446520" y="3456432"/>
            <a:ext cx="5166360" cy="2468880"/>
          </a:xfrm>
          <a:prstGeom prst="rect">
            <a:avLst/>
          </a:prstGeom>
          <a:noFill/>
        </p:spPr>
        <p:txBody>
          <a:bodyPr wrap="square">
            <a:spAutoFit/>
          </a:bodyPr>
          <a:lstStyle/>
          <a:p>
            <a:pPr algn="l">
              <a:lnSpc>
                <a:spcPct val="112000"/>
              </a:lnSpc>
              <a:spcAft>
                <a:spcPts val="300"/>
              </a:spcAft>
            </a:pPr>
            <a:r>
              <a:rPr sz="1300" b="0">
                <a:solidFill>
                  <a:srgbClr val="243447"/>
                </a:solidFill>
                <a:latin typeface="Calibri"/>
              </a:rPr>
              <a:t>•  Do not rush modules</a:t>
            </a:r>
          </a:p>
          <a:p>
            <a:pPr algn="l">
              <a:lnSpc>
                <a:spcPct val="112000"/>
              </a:lnSpc>
              <a:spcAft>
                <a:spcPts val="300"/>
              </a:spcAft>
            </a:pPr>
            <a:r>
              <a:rPr sz="1300" b="0">
                <a:solidFill>
                  <a:srgbClr val="243447"/>
                </a:solidFill>
                <a:latin typeface="Calibri"/>
              </a:rPr>
              <a:t>•  Do not leave the form open overnight</a:t>
            </a:r>
          </a:p>
          <a:p>
            <a:pPr algn="l">
              <a:lnSpc>
                <a:spcPct val="112000"/>
              </a:lnSpc>
              <a:spcAft>
                <a:spcPts val="300"/>
              </a:spcAft>
            </a:pPr>
            <a:r>
              <a:rPr sz="1300" b="0">
                <a:solidFill>
                  <a:srgbClr val="243447"/>
                </a:solidFill>
                <a:latin typeface="Calibri"/>
              </a:rPr>
              <a:t>•  Set tablet date and time correctly</a:t>
            </a:r>
          </a:p>
          <a:p>
            <a:pPr algn="l">
              <a:lnSpc>
                <a:spcPct val="112000"/>
              </a:lnSpc>
              <a:spcAft>
                <a:spcPts val="300"/>
              </a:spcAft>
            </a:pPr>
            <a:r>
              <a:rPr sz="1300" b="0">
                <a:solidFill>
                  <a:srgbClr val="243447"/>
                </a:solidFill>
                <a:latin typeface="Calibri"/>
              </a:rPr>
              <a:t>•  Finish a real interview in one sitting</a:t>
            </a:r>
          </a:p>
          <a:p>
            <a:pPr algn="l">
              <a:lnSpc>
                <a:spcPct val="112000"/>
              </a:lnSpc>
              <a:spcAft>
                <a:spcPts val="300"/>
              </a:spcAft>
            </a:pPr>
            <a:r>
              <a:rPr sz="1300" b="0">
                <a:solidFill>
                  <a:srgbClr val="243447"/>
                </a:solidFill>
                <a:latin typeface="Calibri"/>
              </a:rPr>
              <a:t>•  Do not re-enter a completed case</a:t>
            </a:r>
          </a:p>
          <a:p>
            <a:pPr algn="l">
              <a:lnSpc>
                <a:spcPct val="112000"/>
              </a:lnSpc>
              <a:spcAft>
                <a:spcPts val="300"/>
              </a:spcAft>
            </a:pPr>
            <a:r>
              <a:rPr sz="1300" b="0">
                <a:solidFill>
                  <a:srgbClr val="243447"/>
                </a:solidFill>
                <a:latin typeface="Calibri"/>
              </a:rPr>
              <a:t>•  Speed warnings on consent are integrity</a:t>
            </a:r>
          </a:p>
        </p:txBody>
      </p:sp>
      <p:sp>
        <p:nvSpPr>
          <p:cNvPr id="17" name="Rectangle 16"/>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19" name="TextBox 18"/>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11  /  20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Learning test and photograph</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Real test. Real paper. Real upload.</a:t>
            </a:r>
          </a:p>
        </p:txBody>
      </p:sp>
      <p:sp>
        <p:nvSpPr>
          <p:cNvPr id="7" name="Rounded Rectangle 6"/>
          <p:cNvSpPr/>
          <p:nvPr/>
        </p:nvSpPr>
        <p:spPr>
          <a:xfrm>
            <a:off x="365760" y="1234440"/>
            <a:ext cx="2788920" cy="214884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63040"/>
            <a:ext cx="2377440" cy="502920"/>
          </a:xfrm>
          <a:prstGeom prst="rect">
            <a:avLst/>
          </a:prstGeom>
          <a:noFill/>
        </p:spPr>
        <p:txBody>
          <a:bodyPr wrap="square">
            <a:spAutoFit/>
          </a:bodyPr>
          <a:lstStyle/>
          <a:p>
            <a:pPr algn="l">
              <a:lnSpc>
                <a:spcPct val="112000"/>
              </a:lnSpc>
              <a:spcAft>
                <a:spcPts val="0"/>
              </a:spcAft>
            </a:pPr>
            <a:r>
              <a:rPr sz="3200" b="1">
                <a:solidFill>
                  <a:srgbClr val="2A7F9E"/>
                </a:solidFill>
                <a:latin typeface="Calibri"/>
              </a:rPr>
              <a:t>1</a:t>
            </a:r>
          </a:p>
        </p:txBody>
      </p:sp>
      <p:sp>
        <p:nvSpPr>
          <p:cNvPr id="9" name="TextBox 8"/>
          <p:cNvSpPr txBox="1"/>
          <p:nvPr/>
        </p:nvSpPr>
        <p:spPr>
          <a:xfrm>
            <a:off x="548640" y="2148840"/>
            <a:ext cx="2377440" cy="10058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Administer reading and math as written</a:t>
            </a:r>
          </a:p>
        </p:txBody>
      </p:sp>
      <p:sp>
        <p:nvSpPr>
          <p:cNvPr id="10" name="Rounded Rectangle 9"/>
          <p:cNvSpPr/>
          <p:nvPr/>
        </p:nvSpPr>
        <p:spPr>
          <a:xfrm>
            <a:off x="3291840" y="1234440"/>
            <a:ext cx="2788920" cy="214884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74720" y="1463040"/>
            <a:ext cx="2377440" cy="502920"/>
          </a:xfrm>
          <a:prstGeom prst="rect">
            <a:avLst/>
          </a:prstGeom>
          <a:noFill/>
        </p:spPr>
        <p:txBody>
          <a:bodyPr wrap="square">
            <a:spAutoFit/>
          </a:bodyPr>
          <a:lstStyle/>
          <a:p>
            <a:pPr algn="l">
              <a:lnSpc>
                <a:spcPct val="112000"/>
              </a:lnSpc>
              <a:spcAft>
                <a:spcPts val="0"/>
              </a:spcAft>
            </a:pPr>
            <a:r>
              <a:rPr sz="3200" b="1">
                <a:solidFill>
                  <a:srgbClr val="2A7F9E"/>
                </a:solidFill>
                <a:latin typeface="Calibri"/>
              </a:rPr>
              <a:t>2</a:t>
            </a:r>
          </a:p>
        </p:txBody>
      </p:sp>
      <p:sp>
        <p:nvSpPr>
          <p:cNvPr id="12" name="TextBox 11"/>
          <p:cNvSpPr txBox="1"/>
          <p:nvPr/>
        </p:nvSpPr>
        <p:spPr>
          <a:xfrm>
            <a:off x="3474720" y="2148840"/>
            <a:ext cx="2377440" cy="10058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Mark story words, last word, incorrects carefully</a:t>
            </a:r>
          </a:p>
        </p:txBody>
      </p:sp>
      <p:sp>
        <p:nvSpPr>
          <p:cNvPr id="13" name="Rounded Rectangle 12"/>
          <p:cNvSpPr/>
          <p:nvPr/>
        </p:nvSpPr>
        <p:spPr>
          <a:xfrm>
            <a:off x="6217920" y="1234440"/>
            <a:ext cx="2788920" cy="214884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463040"/>
            <a:ext cx="2377440" cy="502920"/>
          </a:xfrm>
          <a:prstGeom prst="rect">
            <a:avLst/>
          </a:prstGeom>
          <a:noFill/>
        </p:spPr>
        <p:txBody>
          <a:bodyPr wrap="square">
            <a:spAutoFit/>
          </a:bodyPr>
          <a:lstStyle/>
          <a:p>
            <a:pPr algn="l">
              <a:lnSpc>
                <a:spcPct val="112000"/>
              </a:lnSpc>
              <a:spcAft>
                <a:spcPts val="0"/>
              </a:spcAft>
            </a:pPr>
            <a:r>
              <a:rPr sz="3200" b="1">
                <a:solidFill>
                  <a:srgbClr val="2A7F9E"/>
                </a:solidFill>
                <a:latin typeface="Calibri"/>
              </a:rPr>
              <a:t>3</a:t>
            </a:r>
          </a:p>
        </p:txBody>
      </p:sp>
      <p:sp>
        <p:nvSpPr>
          <p:cNvPr id="15" name="TextBox 14"/>
          <p:cNvSpPr txBox="1"/>
          <p:nvPr/>
        </p:nvSpPr>
        <p:spPr>
          <a:xfrm>
            <a:off x="6400800" y="2148840"/>
            <a:ext cx="2377440" cy="10058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Photograph the completed paper (front / back)</a:t>
            </a:r>
          </a:p>
        </p:txBody>
      </p:sp>
      <p:sp>
        <p:nvSpPr>
          <p:cNvPr id="16" name="Rounded Rectangle 15"/>
          <p:cNvSpPr/>
          <p:nvPr/>
        </p:nvSpPr>
        <p:spPr>
          <a:xfrm>
            <a:off x="9144000" y="1234440"/>
            <a:ext cx="2788920" cy="2148840"/>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0" y="1463040"/>
            <a:ext cx="2377440" cy="502920"/>
          </a:xfrm>
          <a:prstGeom prst="rect">
            <a:avLst/>
          </a:prstGeom>
          <a:noFill/>
        </p:spPr>
        <p:txBody>
          <a:bodyPr wrap="square">
            <a:spAutoFit/>
          </a:bodyPr>
          <a:lstStyle/>
          <a:p>
            <a:pPr algn="l">
              <a:lnSpc>
                <a:spcPct val="112000"/>
              </a:lnSpc>
              <a:spcAft>
                <a:spcPts val="0"/>
              </a:spcAft>
            </a:pPr>
            <a:r>
              <a:rPr sz="3200" b="1">
                <a:solidFill>
                  <a:srgbClr val="2A7F9E"/>
                </a:solidFill>
                <a:latin typeface="Calibri"/>
              </a:rPr>
              <a:t>4</a:t>
            </a:r>
          </a:p>
        </p:txBody>
      </p:sp>
      <p:sp>
        <p:nvSpPr>
          <p:cNvPr id="18" name="TextBox 17"/>
          <p:cNvSpPr txBox="1"/>
          <p:nvPr/>
        </p:nvSpPr>
        <p:spPr>
          <a:xfrm>
            <a:off x="9326880" y="2148840"/>
            <a:ext cx="2377440" cy="10058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Upload the photo before you submit</a:t>
            </a:r>
          </a:p>
        </p:txBody>
      </p:sp>
      <p:sp>
        <p:nvSpPr>
          <p:cNvPr id="19" name="Rounded Rectangle 18"/>
          <p:cNvSpPr/>
          <p:nvPr/>
        </p:nvSpPr>
        <p:spPr>
          <a:xfrm>
            <a:off x="411480" y="3657600"/>
            <a:ext cx="5532120" cy="233172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11480" y="3657600"/>
            <a:ext cx="82296" cy="233172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3785616"/>
            <a:ext cx="5166360"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What the script flags</a:t>
            </a:r>
          </a:p>
        </p:txBody>
      </p:sp>
      <p:sp>
        <p:nvSpPr>
          <p:cNvPr id="22" name="TextBox 21"/>
          <p:cNvSpPr txBox="1"/>
          <p:nvPr/>
        </p:nvSpPr>
        <p:spPr>
          <a:xfrm>
            <a:off x="640080" y="4096512"/>
            <a:ext cx="5166360" cy="1783080"/>
          </a:xfrm>
          <a:prstGeom prst="rect">
            <a:avLst/>
          </a:prstGeom>
          <a:noFill/>
        </p:spPr>
        <p:txBody>
          <a:bodyPr wrap="square">
            <a:spAutoFit/>
          </a:bodyPr>
          <a:lstStyle/>
          <a:p>
            <a:pPr algn="l">
              <a:lnSpc>
                <a:spcPct val="112000"/>
              </a:lnSpc>
              <a:spcAft>
                <a:spcPts val="300"/>
              </a:spcAft>
            </a:pPr>
            <a:r>
              <a:rPr sz="1300" b="0">
                <a:solidFill>
                  <a:srgbClr val="243447"/>
                </a:solidFill>
                <a:latin typeface="Calibri"/>
              </a:rPr>
              <a:t>•  Reading-test marks that do not describe one event</a:t>
            </a:r>
          </a:p>
          <a:p>
            <a:pPr algn="l">
              <a:lnSpc>
                <a:spcPct val="112000"/>
              </a:lnSpc>
              <a:spcAft>
                <a:spcPts val="300"/>
              </a:spcAft>
            </a:pPr>
            <a:r>
              <a:rPr sz="1300" b="0">
                <a:solidFill>
                  <a:srgbClr val="243447"/>
                </a:solidFill>
                <a:latin typeface="Calibri"/>
              </a:rPr>
              <a:t>•  Test recorded but front_photo / back_photo has no file</a:t>
            </a:r>
          </a:p>
          <a:p>
            <a:pPr algn="l">
              <a:lnSpc>
                <a:spcPct val="112000"/>
              </a:lnSpc>
              <a:spcAft>
                <a:spcPts val="300"/>
              </a:spcAft>
            </a:pPr>
            <a:r>
              <a:rPr sz="1300" b="0">
                <a:solidFill>
                  <a:srgbClr val="243447"/>
                </a:solidFill>
                <a:latin typeface="Calibri"/>
              </a:rPr>
              <a:t>•  Enumerator score / last_word / incorrect pattern far from peers</a:t>
            </a:r>
          </a:p>
        </p:txBody>
      </p:sp>
      <p:sp>
        <p:nvSpPr>
          <p:cNvPr id="23" name="Rounded Rectangle 22"/>
          <p:cNvSpPr/>
          <p:nvPr/>
        </p:nvSpPr>
        <p:spPr>
          <a:xfrm>
            <a:off x="6217920" y="3657600"/>
            <a:ext cx="5532120" cy="233172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17920" y="3657600"/>
            <a:ext cx="82296" cy="2331720"/>
          </a:xfrm>
          <a:prstGeom prst="rect">
            <a:avLst/>
          </a:prstGeom>
          <a:solidFill>
            <a:srgbClr val="A1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46520" y="3785616"/>
            <a:ext cx="5166360"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What field supervision checks</a:t>
            </a:r>
          </a:p>
        </p:txBody>
      </p:sp>
      <p:sp>
        <p:nvSpPr>
          <p:cNvPr id="26" name="TextBox 25"/>
          <p:cNvSpPr txBox="1"/>
          <p:nvPr/>
        </p:nvSpPr>
        <p:spPr>
          <a:xfrm>
            <a:off x="6446520" y="4096512"/>
            <a:ext cx="5166360" cy="1783080"/>
          </a:xfrm>
          <a:prstGeom prst="rect">
            <a:avLst/>
          </a:prstGeom>
          <a:noFill/>
        </p:spPr>
        <p:txBody>
          <a:bodyPr wrap="square">
            <a:spAutoFit/>
          </a:bodyPr>
          <a:lstStyle/>
          <a:p>
            <a:pPr algn="l">
              <a:lnSpc>
                <a:spcPct val="112000"/>
              </a:lnSpc>
              <a:spcAft>
                <a:spcPts val="300"/>
              </a:spcAft>
            </a:pPr>
            <a:r>
              <a:rPr sz="1300" b="0">
                <a:solidFill>
                  <a:srgbClr val="243447"/>
                </a:solidFill>
                <a:latin typeface="Calibri"/>
              </a:rPr>
              <a:t>•  Supervisor (Male) reviews a sample of photographs</a:t>
            </a:r>
          </a:p>
          <a:p>
            <a:pPr algn="l">
              <a:lnSpc>
                <a:spcPct val="112000"/>
              </a:lnSpc>
              <a:spcAft>
                <a:spcPts val="300"/>
              </a:spcAft>
            </a:pPr>
            <a:r>
              <a:rPr sz="1300" b="0">
                <a:solidFill>
                  <a:srgbClr val="243447"/>
                </a:solidFill>
                <a:latin typeface="Calibri"/>
              </a:rPr>
              <a:t>•  Blank page or random image is not acceptable</a:t>
            </a:r>
          </a:p>
          <a:p>
            <a:pPr algn="l">
              <a:lnSpc>
                <a:spcPct val="112000"/>
              </a:lnSpc>
              <a:spcAft>
                <a:spcPts val="300"/>
              </a:spcAft>
            </a:pPr>
            <a:r>
              <a:rPr sz="1300" b="0">
                <a:solidFill>
                  <a:srgbClr val="243447"/>
                </a:solidFill>
                <a:latin typeface="Calibri"/>
              </a:rPr>
              <a:t>•  Missing / fake photo or inconsistent marks can trigger resurvey (Track 2 if test was not given)</a:t>
            </a:r>
          </a:p>
        </p:txBody>
      </p:sp>
      <p:sp>
        <p:nvSpPr>
          <p:cNvPr id="27" name="Rectangle 26"/>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29" name="TextBox 28"/>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12  /  20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Household findings: Track 1 or Track 2</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Green badge = Track 1. Red badge = Track 2.</a:t>
            </a:r>
          </a:p>
        </p:txBody>
      </p:sp>
      <p:sp>
        <p:nvSpPr>
          <p:cNvPr id="7" name="Rounded Rectangle 6"/>
          <p:cNvSpPr/>
          <p:nvPr/>
        </p:nvSpPr>
        <p:spPr>
          <a:xfrm>
            <a:off x="411480" y="11430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1430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1887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2070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11" name="TextBox 10"/>
          <p:cNvSpPr txBox="1"/>
          <p:nvPr/>
        </p:nvSpPr>
        <p:spPr>
          <a:xfrm>
            <a:off x="1691640" y="12161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Typing slip, skipped field, device issue</a:t>
            </a:r>
          </a:p>
        </p:txBody>
      </p:sp>
      <p:sp>
        <p:nvSpPr>
          <p:cNvPr id="12" name="Rounded Rectangle 11"/>
          <p:cNvSpPr/>
          <p:nvPr/>
        </p:nvSpPr>
        <p:spPr>
          <a:xfrm>
            <a:off x="411480" y="18288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11480" y="18288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48640" y="18745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18928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16" name="TextBox 15"/>
          <p:cNvSpPr txBox="1"/>
          <p:nvPr/>
        </p:nvSpPr>
        <p:spPr>
          <a:xfrm>
            <a:off x="1691640" y="19019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Dummy name / phone / placeholder (first occurrence)</a:t>
            </a:r>
          </a:p>
        </p:txBody>
      </p:sp>
      <p:sp>
        <p:nvSpPr>
          <p:cNvPr id="17" name="Rounded Rectangle 16"/>
          <p:cNvSpPr/>
          <p:nvPr/>
        </p:nvSpPr>
        <p:spPr>
          <a:xfrm>
            <a:off x="411480" y="25146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11480" y="25146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48640" y="25603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25786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21" name="TextBox 20"/>
          <p:cNvSpPr txBox="1"/>
          <p:nvPr/>
        </p:nvSpPr>
        <p:spPr>
          <a:xfrm>
            <a:off x="1691640" y="25877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Household size mismatch; extreme small/large HH</a:t>
            </a:r>
          </a:p>
        </p:txBody>
      </p:sp>
      <p:sp>
        <p:nvSpPr>
          <p:cNvPr id="22" name="Rounded Rectangle 21"/>
          <p:cNvSpPr/>
          <p:nvPr/>
        </p:nvSpPr>
        <p:spPr>
          <a:xfrm>
            <a:off x="411480" y="32004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11480" y="32004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8640" y="32461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32644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26" name="TextBox 25"/>
          <p:cNvSpPr txBox="1"/>
          <p:nvPr/>
        </p:nvSpPr>
        <p:spPr>
          <a:xfrm>
            <a:off x="1691640" y="32735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Listed girl not first; girl_label spelling mismatch</a:t>
            </a:r>
          </a:p>
        </p:txBody>
      </p:sp>
      <p:sp>
        <p:nvSpPr>
          <p:cNvPr id="27" name="Rounded Rectangle 26"/>
          <p:cNvSpPr/>
          <p:nvPr/>
        </p:nvSpPr>
        <p:spPr>
          <a:xfrm>
            <a:off x="411480" y="38862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11480" y="38862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48640" y="39319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39502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31" name="TextBox 30"/>
          <p:cNvSpPr txBox="1"/>
          <p:nvPr/>
        </p:nvSpPr>
        <p:spPr>
          <a:xfrm>
            <a:off x="1691640" y="39593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Education outlier; mother vs father schooling mismatch</a:t>
            </a:r>
          </a:p>
        </p:txBody>
      </p:sp>
      <p:sp>
        <p:nvSpPr>
          <p:cNvPr id="32" name="Rounded Rectangle 31"/>
          <p:cNvSpPr/>
          <p:nvPr/>
        </p:nvSpPr>
        <p:spPr>
          <a:xfrm>
            <a:off x="411480" y="45720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11480" y="45720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48640" y="46177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8640" y="46360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36" name="TextBox 35"/>
          <p:cNvSpPr txBox="1"/>
          <p:nvPr/>
        </p:nvSpPr>
        <p:spPr>
          <a:xfrm>
            <a:off x="1691640" y="46451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High don't-know / refuse; GPS missing (location off)</a:t>
            </a:r>
          </a:p>
        </p:txBody>
      </p:sp>
      <p:sp>
        <p:nvSpPr>
          <p:cNvPr id="37" name="Rounded Rectangle 36"/>
          <p:cNvSpPr/>
          <p:nvPr/>
        </p:nvSpPr>
        <p:spPr>
          <a:xfrm>
            <a:off x="411480" y="52578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11480" y="52578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48640" y="53035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48640" y="53218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41" name="TextBox 40"/>
          <p:cNvSpPr txBox="1"/>
          <p:nvPr/>
        </p:nvSpPr>
        <p:spPr>
          <a:xfrm>
            <a:off x="1691640" y="53309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Late-night start; long duration; impossible clock year</a:t>
            </a:r>
          </a:p>
        </p:txBody>
      </p:sp>
      <p:sp>
        <p:nvSpPr>
          <p:cNvPr id="42" name="Rounded Rectangle 41"/>
          <p:cNvSpPr/>
          <p:nvPr/>
        </p:nvSpPr>
        <p:spPr>
          <a:xfrm>
            <a:off x="6263640" y="11430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263640" y="11430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400800" y="11887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00800" y="12070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46" name="TextBox 45"/>
          <p:cNvSpPr txBox="1"/>
          <p:nvPr/>
        </p:nvSpPr>
        <p:spPr>
          <a:xfrm>
            <a:off x="7543800" y="12161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Father/mother agreed + available but survey not yet submitted</a:t>
            </a:r>
          </a:p>
        </p:txBody>
      </p:sp>
      <p:sp>
        <p:nvSpPr>
          <p:cNvPr id="47" name="Rounded Rectangle 46"/>
          <p:cNvSpPr/>
          <p:nvPr/>
        </p:nvSpPr>
        <p:spPr>
          <a:xfrm>
            <a:off x="6263640" y="1828800"/>
            <a:ext cx="566928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263640" y="182880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400800" y="187452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00800" y="189280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51" name="TextBox 50"/>
          <p:cNvSpPr txBox="1"/>
          <p:nvPr/>
        </p:nvSpPr>
        <p:spPr>
          <a:xfrm>
            <a:off x="7543800" y="19019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Consent screens tapped through</a:t>
            </a:r>
          </a:p>
        </p:txBody>
      </p:sp>
      <p:sp>
        <p:nvSpPr>
          <p:cNvPr id="52" name="Rounded Rectangle 51"/>
          <p:cNvSpPr/>
          <p:nvPr/>
        </p:nvSpPr>
        <p:spPr>
          <a:xfrm>
            <a:off x="6263640" y="2514600"/>
            <a:ext cx="566928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263640" y="251460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6400800" y="256032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00800" y="257860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56" name="TextBox 55"/>
          <p:cNvSpPr txBox="1"/>
          <p:nvPr/>
        </p:nvSpPr>
        <p:spPr>
          <a:xfrm>
            <a:off x="7543800" y="25877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Completed household under 15 minutes</a:t>
            </a:r>
          </a:p>
        </p:txBody>
      </p:sp>
      <p:sp>
        <p:nvSpPr>
          <p:cNvPr id="57" name="Rounded Rectangle 56"/>
          <p:cNvSpPr/>
          <p:nvPr/>
        </p:nvSpPr>
        <p:spPr>
          <a:xfrm>
            <a:off x="6263640" y="3200400"/>
            <a:ext cx="566928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6263640" y="320040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6400800" y="324612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00800" y="326440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61" name="TextBox 60"/>
          <p:cNvSpPr txBox="1"/>
          <p:nvPr/>
        </p:nvSpPr>
        <p:spPr>
          <a:xfrm>
            <a:off x="7543800" y="32735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Completed household re-entered without approval</a:t>
            </a:r>
          </a:p>
        </p:txBody>
      </p:sp>
      <p:sp>
        <p:nvSpPr>
          <p:cNvPr id="62" name="Rounded Rectangle 61"/>
          <p:cNvSpPr/>
          <p:nvPr/>
        </p:nvSpPr>
        <p:spPr>
          <a:xfrm>
            <a:off x="6263640" y="3886200"/>
            <a:ext cx="566928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263640" y="388620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6400800" y="393192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400800" y="395020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66" name="TextBox 65"/>
          <p:cNvSpPr txBox="1"/>
          <p:nvPr/>
        </p:nvSpPr>
        <p:spPr>
          <a:xfrm>
            <a:off x="7543800" y="39593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GPS wrong area / jump / village cluster integrity issue</a:t>
            </a:r>
          </a:p>
        </p:txBody>
      </p:sp>
      <p:sp>
        <p:nvSpPr>
          <p:cNvPr id="67" name="Rounded Rectangle 66"/>
          <p:cNvSpPr/>
          <p:nvPr/>
        </p:nvSpPr>
        <p:spPr>
          <a:xfrm>
            <a:off x="6263640" y="4572000"/>
            <a:ext cx="566928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6263640" y="457200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p:cNvSpPr/>
          <p:nvPr/>
        </p:nvSpPr>
        <p:spPr>
          <a:xfrm>
            <a:off x="6400800" y="461772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400800" y="463600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71" name="TextBox 70"/>
          <p:cNvSpPr txBox="1"/>
          <p:nvPr/>
        </p:nvSpPr>
        <p:spPr>
          <a:xfrm>
            <a:off x="7543800" y="46451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Listed girl omitted from roster</a:t>
            </a:r>
          </a:p>
        </p:txBody>
      </p:sp>
      <p:sp>
        <p:nvSpPr>
          <p:cNvPr id="72" name="Rounded Rectangle 71"/>
          <p:cNvSpPr/>
          <p:nvPr/>
        </p:nvSpPr>
        <p:spPr>
          <a:xfrm>
            <a:off x="6263640" y="5257800"/>
            <a:ext cx="566928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6263640" y="525780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p:cNvSpPr/>
          <p:nvPr/>
        </p:nvSpPr>
        <p:spPr>
          <a:xfrm>
            <a:off x="6400800" y="530352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400800" y="532180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76" name="TextBox 75"/>
          <p:cNvSpPr txBox="1"/>
          <p:nvPr/>
        </p:nvSpPr>
        <p:spPr>
          <a:xfrm>
            <a:off x="7543800" y="53309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Pattern of dummy entries across many forms</a:t>
            </a:r>
          </a:p>
        </p:txBody>
      </p:sp>
      <p:sp>
        <p:nvSpPr>
          <p:cNvPr id="77" name="Rectangle 76"/>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79" name="TextBox 78"/>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13  /  20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Girls findings: Track 1 or Track 2</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Green badge = Track 1. Red badge = Track 2.</a:t>
            </a:r>
          </a:p>
        </p:txBody>
      </p:sp>
      <p:sp>
        <p:nvSpPr>
          <p:cNvPr id="7" name="Rounded Rectangle 6"/>
          <p:cNvSpPr/>
          <p:nvPr/>
        </p:nvSpPr>
        <p:spPr>
          <a:xfrm>
            <a:off x="411480" y="11430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1430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1887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2070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11" name="TextBox 10"/>
          <p:cNvSpPr txBox="1"/>
          <p:nvPr/>
        </p:nvSpPr>
        <p:spPr>
          <a:xfrm>
            <a:off x="1691640" y="12161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Parental consent not yet confirmed (follow up)</a:t>
            </a:r>
          </a:p>
        </p:txBody>
      </p:sp>
      <p:sp>
        <p:nvSpPr>
          <p:cNvPr id="12" name="Rounded Rectangle 11"/>
          <p:cNvSpPr/>
          <p:nvPr/>
        </p:nvSpPr>
        <p:spPr>
          <a:xfrm>
            <a:off x="411480" y="18288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11480" y="18288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48640" y="18745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18928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16" name="TextBox 15"/>
          <p:cNvSpPr txBox="1"/>
          <p:nvPr/>
        </p:nvSpPr>
        <p:spPr>
          <a:xfrm>
            <a:off x="1691640" y="19019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Girls survey outstanding; attempts incomplete</a:t>
            </a:r>
          </a:p>
        </p:txBody>
      </p:sp>
      <p:sp>
        <p:nvSpPr>
          <p:cNvPr id="17" name="Rounded Rectangle 16"/>
          <p:cNvSpPr/>
          <p:nvPr/>
        </p:nvSpPr>
        <p:spPr>
          <a:xfrm>
            <a:off x="411480" y="25146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11480" y="25146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48640" y="25603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25786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21" name="TextBox 20"/>
          <p:cNvSpPr txBox="1"/>
          <p:nvPr/>
        </p:nvSpPr>
        <p:spPr>
          <a:xfrm>
            <a:off x="1691640" y="25877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Name mismatch HH vs Girls; travel/time inconsistency</a:t>
            </a:r>
          </a:p>
        </p:txBody>
      </p:sp>
      <p:sp>
        <p:nvSpPr>
          <p:cNvPr id="22" name="Rounded Rectangle 21"/>
          <p:cNvSpPr/>
          <p:nvPr/>
        </p:nvSpPr>
        <p:spPr>
          <a:xfrm>
            <a:off x="411480" y="32004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11480" y="32004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8640" y="32461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32644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26" name="TextBox 25"/>
          <p:cNvSpPr txBox="1"/>
          <p:nvPr/>
        </p:nvSpPr>
        <p:spPr>
          <a:xfrm>
            <a:off x="1691640" y="32735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Dummy text / dummy primary phone (first occurrence)</a:t>
            </a:r>
          </a:p>
        </p:txBody>
      </p:sp>
      <p:sp>
        <p:nvSpPr>
          <p:cNvPr id="27" name="Rounded Rectangle 26"/>
          <p:cNvSpPr/>
          <p:nvPr/>
        </p:nvSpPr>
        <p:spPr>
          <a:xfrm>
            <a:off x="411480" y="38862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11480" y="38862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48640" y="39319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39502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31" name="TextBox 30"/>
          <p:cNvSpPr txBox="1"/>
          <p:nvPr/>
        </p:nvSpPr>
        <p:spPr>
          <a:xfrm>
            <a:off x="1691640" y="39593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Unusual score distribution (review &amp; guidance)</a:t>
            </a:r>
          </a:p>
        </p:txBody>
      </p:sp>
      <p:sp>
        <p:nvSpPr>
          <p:cNvPr id="32" name="Rounded Rectangle 31"/>
          <p:cNvSpPr/>
          <p:nvPr/>
        </p:nvSpPr>
        <p:spPr>
          <a:xfrm>
            <a:off x="411480" y="45720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11480" y="45720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48640" y="46177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8640" y="46360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36" name="TextBox 35"/>
          <p:cNvSpPr txBox="1"/>
          <p:nvPr/>
        </p:nvSpPr>
        <p:spPr>
          <a:xfrm>
            <a:off x="1691640" y="46451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Photo file missing — first call to upload / correct</a:t>
            </a:r>
          </a:p>
        </p:txBody>
      </p:sp>
      <p:sp>
        <p:nvSpPr>
          <p:cNvPr id="37" name="Rounded Rectangle 36"/>
          <p:cNvSpPr/>
          <p:nvPr/>
        </p:nvSpPr>
        <p:spPr>
          <a:xfrm>
            <a:off x="411480" y="52578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11480" y="52578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48640" y="53035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48640" y="53218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41" name="TextBox 40"/>
          <p:cNvSpPr txBox="1"/>
          <p:nvPr/>
        </p:nvSpPr>
        <p:spPr>
          <a:xfrm>
            <a:off x="1691640" y="53309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Harassment not in private; module consistency issues</a:t>
            </a:r>
          </a:p>
        </p:txBody>
      </p:sp>
      <p:sp>
        <p:nvSpPr>
          <p:cNvPr id="42" name="Rounded Rectangle 41"/>
          <p:cNvSpPr/>
          <p:nvPr/>
        </p:nvSpPr>
        <p:spPr>
          <a:xfrm>
            <a:off x="6263640" y="1143000"/>
            <a:ext cx="5669280" cy="384048"/>
          </a:xfrm>
          <a:prstGeom prst="roundRect">
            <a:avLst>
              <a:gd name="adj" fmla="val 6000"/>
            </a:avLst>
          </a:prstGeom>
          <a:solidFill>
            <a:srgbClr val="ECF8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263640" y="1143000"/>
            <a:ext cx="73152"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400800" y="1188720"/>
            <a:ext cx="1051560" cy="292608"/>
          </a:xfrm>
          <a:prstGeom prst="roundRect">
            <a:avLst>
              <a:gd name="adj" fmla="val 6000"/>
            </a:avLst>
          </a:prstGeom>
          <a:solidFill>
            <a:srgbClr val="EC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00800" y="1207008"/>
            <a:ext cx="1051560" cy="256032"/>
          </a:xfrm>
          <a:prstGeom prst="rect">
            <a:avLst/>
          </a:prstGeom>
          <a:noFill/>
        </p:spPr>
        <p:txBody>
          <a:bodyPr wrap="square">
            <a:spAutoFit/>
          </a:bodyPr>
          <a:lstStyle/>
          <a:p>
            <a:pPr algn="ctr">
              <a:lnSpc>
                <a:spcPct val="112000"/>
              </a:lnSpc>
              <a:spcAft>
                <a:spcPts val="0"/>
              </a:spcAft>
            </a:pPr>
            <a:r>
              <a:rPr sz="1000" b="1">
                <a:solidFill>
                  <a:srgbClr val="1B6B5A"/>
                </a:solidFill>
                <a:latin typeface="Calibri"/>
              </a:rPr>
              <a:t>TRACK 1</a:t>
            </a:r>
          </a:p>
        </p:txBody>
      </p:sp>
      <p:sp>
        <p:nvSpPr>
          <p:cNvPr id="46" name="TextBox 45"/>
          <p:cNvSpPr txBox="1"/>
          <p:nvPr/>
        </p:nvSpPr>
        <p:spPr>
          <a:xfrm>
            <a:off x="7543800" y="12161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Late-night start; clock errors</a:t>
            </a:r>
          </a:p>
        </p:txBody>
      </p:sp>
      <p:sp>
        <p:nvSpPr>
          <p:cNvPr id="47" name="Rounded Rectangle 46"/>
          <p:cNvSpPr/>
          <p:nvPr/>
        </p:nvSpPr>
        <p:spPr>
          <a:xfrm>
            <a:off x="6263640" y="1828800"/>
            <a:ext cx="566928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263640" y="182880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400800" y="187452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00800" y="189280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51" name="TextBox 50"/>
          <p:cNvSpPr txBox="1"/>
          <p:nvPr/>
        </p:nvSpPr>
        <p:spPr>
          <a:xfrm>
            <a:off x="7543800" y="19019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Consent refused but marked Complete</a:t>
            </a:r>
          </a:p>
        </p:txBody>
      </p:sp>
      <p:sp>
        <p:nvSpPr>
          <p:cNvPr id="52" name="Rounded Rectangle 51"/>
          <p:cNvSpPr/>
          <p:nvPr/>
        </p:nvSpPr>
        <p:spPr>
          <a:xfrm>
            <a:off x="6263640" y="2514600"/>
            <a:ext cx="566928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263640" y="251460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6400800" y="256032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00800" y="257860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56" name="TextBox 55"/>
          <p:cNvSpPr txBox="1"/>
          <p:nvPr/>
        </p:nvSpPr>
        <p:spPr>
          <a:xfrm>
            <a:off x="7543800" y="25877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Consent screens tapped through</a:t>
            </a:r>
          </a:p>
        </p:txBody>
      </p:sp>
      <p:sp>
        <p:nvSpPr>
          <p:cNvPr id="57" name="Rounded Rectangle 56"/>
          <p:cNvSpPr/>
          <p:nvPr/>
        </p:nvSpPr>
        <p:spPr>
          <a:xfrm>
            <a:off x="6263640" y="3200400"/>
            <a:ext cx="566928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6263640" y="320040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6400800" y="324612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00800" y="326440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61" name="TextBox 60"/>
          <p:cNvSpPr txBox="1"/>
          <p:nvPr/>
        </p:nvSpPr>
        <p:spPr>
          <a:xfrm>
            <a:off x="7543800" y="32735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Girls form under 15 minutes</a:t>
            </a:r>
          </a:p>
        </p:txBody>
      </p:sp>
      <p:sp>
        <p:nvSpPr>
          <p:cNvPr id="62" name="Rounded Rectangle 61"/>
          <p:cNvSpPr/>
          <p:nvPr/>
        </p:nvSpPr>
        <p:spPr>
          <a:xfrm>
            <a:off x="6263640" y="3886200"/>
            <a:ext cx="566928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263640" y="388620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6400800" y="393192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400800" y="395020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66" name="TextBox 65"/>
          <p:cNvSpPr txBox="1"/>
          <p:nvPr/>
        </p:nvSpPr>
        <p:spPr>
          <a:xfrm>
            <a:off x="7543800" y="39593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Completed Girls form re-entered without approval</a:t>
            </a:r>
          </a:p>
        </p:txBody>
      </p:sp>
      <p:sp>
        <p:nvSpPr>
          <p:cNvPr id="67" name="Rounded Rectangle 66"/>
          <p:cNvSpPr/>
          <p:nvPr/>
        </p:nvSpPr>
        <p:spPr>
          <a:xfrm>
            <a:off x="6263640" y="4572000"/>
            <a:ext cx="566928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6263640" y="457200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p:cNvSpPr/>
          <p:nvPr/>
        </p:nvSpPr>
        <p:spPr>
          <a:xfrm>
            <a:off x="6400800" y="461772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400800" y="463600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71" name="TextBox 70"/>
          <p:cNvSpPr txBox="1"/>
          <p:nvPr/>
        </p:nvSpPr>
        <p:spPr>
          <a:xfrm>
            <a:off x="7543800" y="46451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Girls GPS does not match Household GPS (integrity)</a:t>
            </a:r>
          </a:p>
        </p:txBody>
      </p:sp>
      <p:sp>
        <p:nvSpPr>
          <p:cNvPr id="72" name="Rounded Rectangle 71"/>
          <p:cNvSpPr/>
          <p:nvPr/>
        </p:nvSpPr>
        <p:spPr>
          <a:xfrm>
            <a:off x="6263640" y="5257800"/>
            <a:ext cx="566928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6263640" y="525780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p:cNvSpPr/>
          <p:nvPr/>
        </p:nvSpPr>
        <p:spPr>
          <a:xfrm>
            <a:off x="6400800" y="530352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400800" y="532180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76" name="TextBox 75"/>
          <p:cNvSpPr txBox="1"/>
          <p:nvPr/>
        </p:nvSpPr>
        <p:spPr>
          <a:xfrm>
            <a:off x="7543800" y="5330952"/>
            <a:ext cx="425196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Learning test not given / blank-random photo / marks not one event</a:t>
            </a:r>
          </a:p>
        </p:txBody>
      </p:sp>
      <p:sp>
        <p:nvSpPr>
          <p:cNvPr id="77" name="Rectangle 76"/>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79" name="TextBox 78"/>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14  /  20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If something is flagged</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Daily loop and repeat findings</a:t>
            </a:r>
          </a:p>
        </p:txBody>
      </p:sp>
      <p:sp>
        <p:nvSpPr>
          <p:cNvPr id="7" name="Rounded Rectangle 6"/>
          <p:cNvSpPr/>
          <p:nvPr/>
        </p:nvSpPr>
        <p:spPr>
          <a:xfrm>
            <a:off x="365760" y="123444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23444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Portal</a:t>
            </a:r>
          </a:p>
        </p:txBody>
      </p:sp>
      <p:sp>
        <p:nvSpPr>
          <p:cNvPr id="10" name="TextBox 9"/>
          <p:cNvSpPr txBox="1"/>
          <p:nvPr/>
        </p:nvSpPr>
        <p:spPr>
          <a:xfrm>
            <a:off x="594360" y="167335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Findings appear on the district error-log portal the same day.</a:t>
            </a:r>
          </a:p>
        </p:txBody>
      </p:sp>
      <p:sp>
        <p:nvSpPr>
          <p:cNvPr id="11" name="Rounded Rectangle 10"/>
          <p:cNvSpPr/>
          <p:nvPr/>
        </p:nvSpPr>
        <p:spPr>
          <a:xfrm>
            <a:off x="4251960" y="123444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23444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Call</a:t>
            </a:r>
          </a:p>
        </p:txBody>
      </p:sp>
      <p:sp>
        <p:nvSpPr>
          <p:cNvPr id="14" name="TextBox 13"/>
          <p:cNvSpPr txBox="1"/>
          <p:nvPr/>
        </p:nvSpPr>
        <p:spPr>
          <a:xfrm>
            <a:off x="4480560" y="167335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On Track 1 you get a call. Look at the same log together.</a:t>
            </a:r>
          </a:p>
        </p:txBody>
      </p:sp>
      <p:sp>
        <p:nvSpPr>
          <p:cNvPr id="15" name="Rounded Rectangle 14"/>
          <p:cNvSpPr/>
          <p:nvPr/>
        </p:nvSpPr>
        <p:spPr>
          <a:xfrm>
            <a:off x="8138160" y="123444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23444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67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Explain</a:t>
            </a:r>
          </a:p>
        </p:txBody>
      </p:sp>
      <p:sp>
        <p:nvSpPr>
          <p:cNvPr id="18" name="TextBox 17"/>
          <p:cNvSpPr txBox="1"/>
          <p:nvPr/>
        </p:nvSpPr>
        <p:spPr>
          <a:xfrm>
            <a:off x="8366760" y="167335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Say what happened. A typing slip is different from a fake interview.</a:t>
            </a:r>
          </a:p>
        </p:txBody>
      </p:sp>
      <p:sp>
        <p:nvSpPr>
          <p:cNvPr id="19" name="Rounded Rectangle 18"/>
          <p:cNvSpPr/>
          <p:nvPr/>
        </p:nvSpPr>
        <p:spPr>
          <a:xfrm>
            <a:off x="365760" y="370332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370332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383133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Guide</a:t>
            </a:r>
          </a:p>
        </p:txBody>
      </p:sp>
      <p:sp>
        <p:nvSpPr>
          <p:cNvPr id="22" name="TextBox 21"/>
          <p:cNvSpPr txBox="1"/>
          <p:nvPr/>
        </p:nvSpPr>
        <p:spPr>
          <a:xfrm>
            <a:off x="594360" y="414223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Follow the guidance before your next field day.</a:t>
            </a:r>
          </a:p>
        </p:txBody>
      </p:sp>
      <p:sp>
        <p:nvSpPr>
          <p:cNvPr id="23" name="Rounded Rectangle 22"/>
          <p:cNvSpPr/>
          <p:nvPr/>
        </p:nvSpPr>
        <p:spPr>
          <a:xfrm>
            <a:off x="4251960" y="370332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51960" y="3703320"/>
            <a:ext cx="82296" cy="224028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80560" y="383133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Repeat</a:t>
            </a:r>
          </a:p>
        </p:txBody>
      </p:sp>
      <p:sp>
        <p:nvSpPr>
          <p:cNvPr id="26" name="TextBox 25"/>
          <p:cNvSpPr txBox="1"/>
          <p:nvPr/>
        </p:nvSpPr>
        <p:spPr>
          <a:xfrm>
            <a:off x="4480560" y="414223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Same finding after guidance: written warning, then possible withdrawal.</a:t>
            </a:r>
          </a:p>
        </p:txBody>
      </p:sp>
      <p:sp>
        <p:nvSpPr>
          <p:cNvPr id="27" name="Rounded Rectangle 26"/>
          <p:cNvSpPr/>
          <p:nvPr/>
        </p:nvSpPr>
        <p:spPr>
          <a:xfrm>
            <a:off x="8138160" y="3703320"/>
            <a:ext cx="3749039" cy="224028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138160" y="3703320"/>
            <a:ext cx="82296" cy="2240280"/>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66760" y="383133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Track 2</a:t>
            </a:r>
          </a:p>
        </p:txBody>
      </p:sp>
      <p:sp>
        <p:nvSpPr>
          <p:cNvPr id="30" name="TextBox 29"/>
          <p:cNvSpPr txBox="1"/>
          <p:nvPr/>
        </p:nvSpPr>
        <p:spPr>
          <a:xfrm>
            <a:off x="8366760" y="4142232"/>
            <a:ext cx="3383279" cy="1691640"/>
          </a:xfrm>
          <a:prstGeom prst="rect">
            <a:avLst/>
          </a:prstGeom>
          <a:noFill/>
        </p:spPr>
        <p:txBody>
          <a:bodyPr wrap="square">
            <a:spAutoFit/>
          </a:bodyPr>
          <a:lstStyle/>
          <a:p>
            <a:pPr algn="l">
              <a:lnSpc>
                <a:spcPct val="112000"/>
              </a:lnSpc>
              <a:spcAft>
                <a:spcPts val="300"/>
              </a:spcAft>
            </a:pPr>
            <a:r>
              <a:rPr sz="1200" b="0">
                <a:solidFill>
                  <a:srgbClr val="243447"/>
                </a:solidFill>
                <a:latin typeface="Calibri"/>
              </a:rPr>
              <a:t>Integrity cases start with suspension. Explanation alone does not close them.</a:t>
            </a:r>
          </a:p>
        </p:txBody>
      </p:sp>
      <p:sp>
        <p:nvSpPr>
          <p:cNvPr id="31" name="Rectangle 30"/>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33" name="TextBox 32"/>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15  /  20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Resurvey triggers</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These cases mean a repeat survey. Most are Track 2 integrity.</a:t>
            </a:r>
          </a:p>
        </p:txBody>
      </p:sp>
      <p:sp>
        <p:nvSpPr>
          <p:cNvPr id="7" name="Rounded Rectangle 6"/>
          <p:cNvSpPr/>
          <p:nvPr/>
        </p:nvSpPr>
        <p:spPr>
          <a:xfrm>
            <a:off x="411480" y="1097280"/>
            <a:ext cx="11338560" cy="457200"/>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188720"/>
            <a:ext cx="10972800" cy="320040"/>
          </a:xfrm>
          <a:prstGeom prst="rect">
            <a:avLst/>
          </a:prstGeom>
          <a:noFill/>
        </p:spPr>
        <p:txBody>
          <a:bodyPr wrap="square">
            <a:spAutoFit/>
          </a:bodyPr>
          <a:lstStyle/>
          <a:p>
            <a:pPr algn="l">
              <a:lnSpc>
                <a:spcPct val="112000"/>
              </a:lnSpc>
              <a:spcAft>
                <a:spcPts val="0"/>
              </a:spcAft>
            </a:pPr>
            <a:r>
              <a:rPr sz="1200" b="1">
                <a:solidFill>
                  <a:srgbClr val="8B1E3F"/>
                </a:solidFill>
                <a:latin typeface="Calibri"/>
              </a:rPr>
              <a:t>TRACK 2  ·  Resurvey cases below are integrity findings: suspension / investigation may also apply.</a:t>
            </a:r>
          </a:p>
        </p:txBody>
      </p:sp>
      <p:sp>
        <p:nvSpPr>
          <p:cNvPr id="9" name="Rounded Rectangle 8"/>
          <p:cNvSpPr/>
          <p:nvPr/>
        </p:nvSpPr>
        <p:spPr>
          <a:xfrm>
            <a:off x="411480" y="1691640"/>
            <a:ext cx="1133856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1480" y="169164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48640" y="173736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75564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13" name="TextBox 12"/>
          <p:cNvSpPr txBox="1"/>
          <p:nvPr/>
        </p:nvSpPr>
        <p:spPr>
          <a:xfrm>
            <a:off x="1691640" y="1764792"/>
            <a:ext cx="992124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Listed girl omitted from the roster</a:t>
            </a:r>
          </a:p>
        </p:txBody>
      </p:sp>
      <p:sp>
        <p:nvSpPr>
          <p:cNvPr id="14" name="Rounded Rectangle 13"/>
          <p:cNvSpPr/>
          <p:nvPr/>
        </p:nvSpPr>
        <p:spPr>
          <a:xfrm>
            <a:off x="411480" y="2313432"/>
            <a:ext cx="1133856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1480" y="2313432"/>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48640" y="2359152"/>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2377440"/>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18" name="TextBox 17"/>
          <p:cNvSpPr txBox="1"/>
          <p:nvPr/>
        </p:nvSpPr>
        <p:spPr>
          <a:xfrm>
            <a:off x="1691640" y="2386584"/>
            <a:ext cx="992124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GPS in a different area, or Girls GPS does not match Household GPS</a:t>
            </a:r>
          </a:p>
        </p:txBody>
      </p:sp>
      <p:sp>
        <p:nvSpPr>
          <p:cNvPr id="19" name="Rounded Rectangle 18"/>
          <p:cNvSpPr/>
          <p:nvPr/>
        </p:nvSpPr>
        <p:spPr>
          <a:xfrm>
            <a:off x="411480" y="2935224"/>
            <a:ext cx="1133856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11480" y="2935224"/>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48640" y="2980944"/>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2999232"/>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23" name="TextBox 22"/>
          <p:cNvSpPr txBox="1"/>
          <p:nvPr/>
        </p:nvSpPr>
        <p:spPr>
          <a:xfrm>
            <a:off x="1691640" y="3008376"/>
            <a:ext cx="992124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Household or Girls form finished in under 15 minutes</a:t>
            </a:r>
          </a:p>
        </p:txBody>
      </p:sp>
      <p:sp>
        <p:nvSpPr>
          <p:cNvPr id="24" name="Rounded Rectangle 23"/>
          <p:cNvSpPr/>
          <p:nvPr/>
        </p:nvSpPr>
        <p:spPr>
          <a:xfrm>
            <a:off x="411480" y="3557016"/>
            <a:ext cx="1133856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11480" y="3557016"/>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48640" y="3602736"/>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3621024"/>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28" name="TextBox 27"/>
          <p:cNvSpPr txBox="1"/>
          <p:nvPr/>
        </p:nvSpPr>
        <p:spPr>
          <a:xfrm>
            <a:off x="1691640" y="3630168"/>
            <a:ext cx="992124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Learning-test marks inconsistent, photo missing, or photo not a real completed test</a:t>
            </a:r>
          </a:p>
        </p:txBody>
      </p:sp>
      <p:sp>
        <p:nvSpPr>
          <p:cNvPr id="29" name="Rounded Rectangle 28"/>
          <p:cNvSpPr/>
          <p:nvPr/>
        </p:nvSpPr>
        <p:spPr>
          <a:xfrm>
            <a:off x="411480" y="4178808"/>
            <a:ext cx="1133856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11480" y="4178808"/>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548640" y="4224528"/>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48640" y="4242816"/>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33" name="TextBox 32"/>
          <p:cNvSpPr txBox="1"/>
          <p:nvPr/>
        </p:nvSpPr>
        <p:spPr>
          <a:xfrm>
            <a:off x="1691640" y="4251960"/>
            <a:ext cx="992124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Consent screens tapped through, or respondent says consent was not obtained</a:t>
            </a:r>
          </a:p>
        </p:txBody>
      </p:sp>
      <p:sp>
        <p:nvSpPr>
          <p:cNvPr id="34" name="Rounded Rectangle 33"/>
          <p:cNvSpPr/>
          <p:nvPr/>
        </p:nvSpPr>
        <p:spPr>
          <a:xfrm>
            <a:off x="411480" y="4800600"/>
            <a:ext cx="1133856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11480" y="4800600"/>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548640" y="4846320"/>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48640" y="4864608"/>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38" name="TextBox 37"/>
          <p:cNvSpPr txBox="1"/>
          <p:nvPr/>
        </p:nvSpPr>
        <p:spPr>
          <a:xfrm>
            <a:off x="1691640" y="4873752"/>
            <a:ext cx="992124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Completed case re-entered without PIU / IE approval</a:t>
            </a:r>
          </a:p>
        </p:txBody>
      </p:sp>
      <p:sp>
        <p:nvSpPr>
          <p:cNvPr id="39" name="Rounded Rectangle 38"/>
          <p:cNvSpPr/>
          <p:nvPr/>
        </p:nvSpPr>
        <p:spPr>
          <a:xfrm>
            <a:off x="411480" y="5422392"/>
            <a:ext cx="11338560" cy="384048"/>
          </a:xfrm>
          <a:prstGeom prst="roundRect">
            <a:avLst>
              <a:gd name="adj" fmla="val 6000"/>
            </a:avLst>
          </a:prstGeom>
          <a:solidFill>
            <a:srgbClr val="FDF2F4"/>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11480" y="5422392"/>
            <a:ext cx="73152" cy="384048"/>
          </a:xfrm>
          <a:prstGeom prst="rect">
            <a:avLst/>
          </a:prstGeom>
          <a:solidFill>
            <a:srgbClr val="8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548640" y="5468112"/>
            <a:ext cx="1051560" cy="292608"/>
          </a:xfrm>
          <a:prstGeom prst="roundRect">
            <a:avLst>
              <a:gd name="adj" fmla="val 6000"/>
            </a:avLst>
          </a:prstGeom>
          <a:solidFill>
            <a:srgbClr val="F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48640" y="5486400"/>
            <a:ext cx="1051560" cy="256032"/>
          </a:xfrm>
          <a:prstGeom prst="rect">
            <a:avLst/>
          </a:prstGeom>
          <a:noFill/>
        </p:spPr>
        <p:txBody>
          <a:bodyPr wrap="square">
            <a:spAutoFit/>
          </a:bodyPr>
          <a:lstStyle/>
          <a:p>
            <a:pPr algn="ctr">
              <a:lnSpc>
                <a:spcPct val="112000"/>
              </a:lnSpc>
              <a:spcAft>
                <a:spcPts val="0"/>
              </a:spcAft>
            </a:pPr>
            <a:r>
              <a:rPr sz="1000" b="1">
                <a:solidFill>
                  <a:srgbClr val="8B1E3F"/>
                </a:solidFill>
                <a:latin typeface="Calibri"/>
              </a:rPr>
              <a:t>TRACK 2</a:t>
            </a:r>
          </a:p>
        </p:txBody>
      </p:sp>
      <p:sp>
        <p:nvSpPr>
          <p:cNvPr id="43" name="TextBox 42"/>
          <p:cNvSpPr txBox="1"/>
          <p:nvPr/>
        </p:nvSpPr>
        <p:spPr>
          <a:xfrm>
            <a:off x="1691640" y="5495544"/>
            <a:ext cx="9921240" cy="292608"/>
          </a:xfrm>
          <a:prstGeom prst="rect">
            <a:avLst/>
          </a:prstGeom>
          <a:noFill/>
        </p:spPr>
        <p:txBody>
          <a:bodyPr wrap="square">
            <a:spAutoFit/>
          </a:bodyPr>
          <a:lstStyle/>
          <a:p>
            <a:pPr algn="l">
              <a:lnSpc>
                <a:spcPct val="112000"/>
              </a:lnSpc>
              <a:spcAft>
                <a:spcPts val="0"/>
              </a:spcAft>
            </a:pPr>
            <a:r>
              <a:rPr sz="1100" b="0">
                <a:solidFill>
                  <a:srgbClr val="243447"/>
                </a:solidFill>
                <a:latin typeface="Calibri"/>
              </a:rPr>
              <a:t>Father/mother consent agreed and available, but matching survey not submitted (must complete both)</a:t>
            </a:r>
          </a:p>
        </p:txBody>
      </p:sp>
      <p:sp>
        <p:nvSpPr>
          <p:cNvPr id="44" name="Rectangle 43"/>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46" name="TextBox 45"/>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16  /  20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Field supervision</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Independent checks in the field</a:t>
            </a:r>
          </a:p>
        </p:txBody>
      </p:sp>
      <p:sp>
        <p:nvSpPr>
          <p:cNvPr id="7" name="Rounded Rectangle 6"/>
          <p:cNvSpPr/>
          <p:nvPr/>
        </p:nvSpPr>
        <p:spPr>
          <a:xfrm>
            <a:off x="365760" y="1234440"/>
            <a:ext cx="3749039" cy="484632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234440"/>
            <a:ext cx="82296" cy="484632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Accompaniment</a:t>
            </a:r>
          </a:p>
        </p:txBody>
      </p:sp>
      <p:sp>
        <p:nvSpPr>
          <p:cNvPr id="10" name="TextBox 9"/>
          <p:cNvSpPr txBox="1"/>
          <p:nvPr/>
        </p:nvSpPr>
        <p:spPr>
          <a:xfrm>
            <a:off x="594360" y="1673352"/>
            <a:ext cx="3383279" cy="4297680"/>
          </a:xfrm>
          <a:prstGeom prst="rect">
            <a:avLst/>
          </a:prstGeom>
          <a:noFill/>
        </p:spPr>
        <p:txBody>
          <a:bodyPr wrap="square">
            <a:spAutoFit/>
          </a:bodyPr>
          <a:lstStyle/>
          <a:p>
            <a:pPr algn="l">
              <a:lnSpc>
                <a:spcPct val="112000"/>
              </a:lnSpc>
              <a:spcAft>
                <a:spcPts val="300"/>
              </a:spcAft>
            </a:pPr>
            <a:r>
              <a:rPr sz="1300" b="0">
                <a:solidFill>
                  <a:srgbClr val="243447"/>
                </a:solidFill>
                <a:latin typeface="Calibri"/>
              </a:rPr>
              <a:t>Supervisor (Male) may sit with you on selected interviews.</a:t>
            </a:r>
          </a:p>
          <a:p>
            <a:pPr algn="l">
              <a:lnSpc>
                <a:spcPct val="112000"/>
              </a:lnSpc>
              <a:spcAft>
                <a:spcPts val="300"/>
              </a:spcAft>
            </a:pPr>
            <a:endParaRPr sz="1300" b="0">
              <a:solidFill>
                <a:srgbClr val="243447"/>
              </a:solidFill>
              <a:latin typeface="Calibri"/>
            </a:endParaRPr>
          </a:p>
          <a:p>
            <a:pPr algn="l">
              <a:lnSpc>
                <a:spcPct val="112000"/>
              </a:lnSpc>
              <a:spcAft>
                <a:spcPts val="300"/>
              </a:spcAft>
            </a:pPr>
            <a:r>
              <a:rPr sz="1300" b="0">
                <a:solidFill>
                  <a:srgbClr val="243447"/>
                </a:solidFill>
                <a:latin typeface="Calibri"/>
              </a:rPr>
              <a:t>Checks consent, roster, modules and learning test as written.</a:t>
            </a:r>
          </a:p>
          <a:p>
            <a:pPr algn="l">
              <a:lnSpc>
                <a:spcPct val="112000"/>
              </a:lnSpc>
              <a:spcAft>
                <a:spcPts val="300"/>
              </a:spcAft>
            </a:pPr>
            <a:endParaRPr sz="1300" b="0">
              <a:solidFill>
                <a:srgbClr val="243447"/>
              </a:solidFill>
              <a:latin typeface="Calibri"/>
            </a:endParaRPr>
          </a:p>
          <a:p>
            <a:pPr algn="l">
              <a:lnSpc>
                <a:spcPct val="112000"/>
              </a:lnSpc>
              <a:spcAft>
                <a:spcPts val="300"/>
              </a:spcAft>
            </a:pPr>
            <a:r>
              <a:rPr sz="1300" b="0">
                <a:solidFill>
                  <a:srgbClr val="243447"/>
                </a:solidFill>
                <a:latin typeface="Calibri"/>
              </a:rPr>
              <a:t>He is not part of the Household/Girls collection team for that day.</a:t>
            </a:r>
          </a:p>
        </p:txBody>
      </p:sp>
      <p:sp>
        <p:nvSpPr>
          <p:cNvPr id="11" name="Rounded Rectangle 10"/>
          <p:cNvSpPr/>
          <p:nvPr/>
        </p:nvSpPr>
        <p:spPr>
          <a:xfrm>
            <a:off x="4251960" y="1234440"/>
            <a:ext cx="3749039" cy="484632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234440"/>
            <a:ext cx="82296" cy="4846320"/>
          </a:xfrm>
          <a:prstGeom prst="rect">
            <a:avLst/>
          </a:prstGeom>
          <a:solidFill>
            <a:srgbClr val="A1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0" y="1362456"/>
            <a:ext cx="3383279"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Spot checks</a:t>
            </a:r>
          </a:p>
        </p:txBody>
      </p:sp>
      <p:sp>
        <p:nvSpPr>
          <p:cNvPr id="14" name="TextBox 13"/>
          <p:cNvSpPr txBox="1"/>
          <p:nvPr/>
        </p:nvSpPr>
        <p:spPr>
          <a:xfrm>
            <a:off x="4480560" y="1673352"/>
            <a:ext cx="3383279" cy="4297680"/>
          </a:xfrm>
          <a:prstGeom prst="rect">
            <a:avLst/>
          </a:prstGeom>
          <a:noFill/>
        </p:spPr>
        <p:txBody>
          <a:bodyPr wrap="square">
            <a:spAutoFit/>
          </a:bodyPr>
          <a:lstStyle/>
          <a:p>
            <a:pPr algn="l">
              <a:lnSpc>
                <a:spcPct val="112000"/>
              </a:lnSpc>
              <a:spcAft>
                <a:spcPts val="300"/>
              </a:spcAft>
            </a:pPr>
            <a:r>
              <a:rPr sz="1300" b="0">
                <a:solidFill>
                  <a:srgbClr val="243447"/>
                </a:solidFill>
                <a:latin typeface="Calibri"/>
              </a:rPr>
              <a:t>May revisit or observe completed cases soon after the interview.</a:t>
            </a:r>
          </a:p>
          <a:p>
            <a:pPr algn="l">
              <a:lnSpc>
                <a:spcPct val="112000"/>
              </a:lnSpc>
              <a:spcAft>
                <a:spcPts val="300"/>
              </a:spcAft>
            </a:pPr>
            <a:endParaRPr sz="1300" b="0">
              <a:solidFill>
                <a:srgbClr val="243447"/>
              </a:solidFill>
              <a:latin typeface="Calibri"/>
            </a:endParaRPr>
          </a:p>
          <a:p>
            <a:pPr algn="l">
              <a:lnSpc>
                <a:spcPct val="112000"/>
              </a:lnSpc>
              <a:spcAft>
                <a:spcPts val="300"/>
              </a:spcAft>
            </a:pPr>
            <a:r>
              <a:rPr sz="1300" b="0">
                <a:solidFill>
                  <a:srgbClr val="243447"/>
                </a:solidFill>
                <a:latin typeface="Calibri"/>
              </a:rPr>
              <a:t>Confirms the visit took place.</a:t>
            </a:r>
          </a:p>
          <a:p>
            <a:pPr algn="l">
              <a:lnSpc>
                <a:spcPct val="112000"/>
              </a:lnSpc>
              <a:spcAft>
                <a:spcPts val="300"/>
              </a:spcAft>
            </a:pPr>
            <a:endParaRPr sz="1300" b="0">
              <a:solidFill>
                <a:srgbClr val="243447"/>
              </a:solidFill>
              <a:latin typeface="Calibri"/>
            </a:endParaRPr>
          </a:p>
          <a:p>
            <a:pPr algn="l">
              <a:lnSpc>
                <a:spcPct val="112000"/>
              </a:lnSpc>
              <a:spcAft>
                <a:spcPts val="300"/>
              </a:spcAft>
            </a:pPr>
            <a:r>
              <a:rPr sz="1300" b="0">
                <a:solidFill>
                  <a:srgbClr val="243447"/>
                </a:solidFill>
                <a:latin typeface="Calibri"/>
              </a:rPr>
              <a:t>Reviews a sample of learning-test photographs (blank/random images fail).</a:t>
            </a:r>
          </a:p>
        </p:txBody>
      </p:sp>
      <p:sp>
        <p:nvSpPr>
          <p:cNvPr id="15" name="Rounded Rectangle 14"/>
          <p:cNvSpPr/>
          <p:nvPr/>
        </p:nvSpPr>
        <p:spPr>
          <a:xfrm>
            <a:off x="8138160" y="1234440"/>
            <a:ext cx="3657600" cy="484632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234440"/>
            <a:ext cx="82296" cy="484632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6760" y="1362456"/>
            <a:ext cx="3291840"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Unannounced visits</a:t>
            </a:r>
          </a:p>
        </p:txBody>
      </p:sp>
      <p:sp>
        <p:nvSpPr>
          <p:cNvPr id="18" name="TextBox 17"/>
          <p:cNvSpPr txBox="1"/>
          <p:nvPr/>
        </p:nvSpPr>
        <p:spPr>
          <a:xfrm>
            <a:off x="8366760" y="1673352"/>
            <a:ext cx="3291840" cy="4297680"/>
          </a:xfrm>
          <a:prstGeom prst="rect">
            <a:avLst/>
          </a:prstGeom>
          <a:noFill/>
        </p:spPr>
        <p:txBody>
          <a:bodyPr wrap="square">
            <a:spAutoFit/>
          </a:bodyPr>
          <a:lstStyle/>
          <a:p>
            <a:pPr algn="l">
              <a:lnSpc>
                <a:spcPct val="112000"/>
              </a:lnSpc>
              <a:spcAft>
                <a:spcPts val="300"/>
              </a:spcAft>
            </a:pPr>
            <a:r>
              <a:rPr sz="1300" b="0">
                <a:solidFill>
                  <a:srgbClr val="243447"/>
                </a:solidFill>
                <a:latin typeface="Calibri"/>
              </a:rPr>
              <a:t>May arrive without prior notice.</a:t>
            </a:r>
          </a:p>
          <a:p>
            <a:pPr algn="l">
              <a:lnSpc>
                <a:spcPct val="112000"/>
              </a:lnSpc>
              <a:spcAft>
                <a:spcPts val="300"/>
              </a:spcAft>
            </a:pPr>
            <a:endParaRPr sz="1300" b="0">
              <a:solidFill>
                <a:srgbClr val="243447"/>
              </a:solidFill>
              <a:latin typeface="Calibri"/>
            </a:endParaRPr>
          </a:p>
          <a:p>
            <a:pPr algn="l">
              <a:lnSpc>
                <a:spcPct val="112000"/>
              </a:lnSpc>
              <a:spcAft>
                <a:spcPts val="300"/>
              </a:spcAft>
            </a:pPr>
            <a:r>
              <a:rPr sz="1300" b="0">
                <a:solidFill>
                  <a:srgbClr val="243447"/>
                </a:solidFill>
                <a:latin typeface="Calibri"/>
              </a:rPr>
              <a:t>The check is not staged.</a:t>
            </a:r>
          </a:p>
          <a:p>
            <a:pPr algn="l">
              <a:lnSpc>
                <a:spcPct val="112000"/>
              </a:lnSpc>
              <a:spcAft>
                <a:spcPts val="300"/>
              </a:spcAft>
            </a:pPr>
            <a:endParaRPr sz="1300" b="0">
              <a:solidFill>
                <a:srgbClr val="243447"/>
              </a:solidFill>
              <a:latin typeface="Calibri"/>
            </a:endParaRPr>
          </a:p>
          <a:p>
            <a:pPr algn="l">
              <a:lnSpc>
                <a:spcPct val="112000"/>
              </a:lnSpc>
              <a:spcAft>
                <a:spcPts val="300"/>
              </a:spcAft>
            </a:pPr>
            <a:r>
              <a:rPr sz="1300" b="0">
                <a:solidFill>
                  <a:srgbClr val="243447"/>
                </a:solidFill>
                <a:latin typeface="Calibri"/>
              </a:rPr>
              <a:t>Field findings follow the same Track 1 / Track 2 rules as the daily log.</a:t>
            </a:r>
          </a:p>
        </p:txBody>
      </p:sp>
      <p:sp>
        <p:nvSpPr>
          <p:cNvPr id="19" name="Rectangle 18"/>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21" name="TextBox 20"/>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17  /  20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Weekly review and training</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Daily call fixes yesterday. Weekly meeting fixes the habit.</a:t>
            </a:r>
          </a:p>
        </p:txBody>
      </p:sp>
      <p:sp>
        <p:nvSpPr>
          <p:cNvPr id="7" name="Rounded Rectangle 6"/>
          <p:cNvSpPr/>
          <p:nvPr/>
        </p:nvSpPr>
        <p:spPr>
          <a:xfrm>
            <a:off x="411480" y="1280160"/>
            <a:ext cx="5623560" cy="210312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280160"/>
            <a:ext cx="82296" cy="210312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408176"/>
            <a:ext cx="5257800"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Combined weekly review</a:t>
            </a:r>
          </a:p>
        </p:txBody>
      </p:sp>
      <p:sp>
        <p:nvSpPr>
          <p:cNvPr id="10" name="TextBox 9"/>
          <p:cNvSpPr txBox="1"/>
          <p:nvPr/>
        </p:nvSpPr>
        <p:spPr>
          <a:xfrm>
            <a:off x="640080" y="1719072"/>
            <a:ext cx="5257800" cy="1554480"/>
          </a:xfrm>
          <a:prstGeom prst="rect">
            <a:avLst/>
          </a:prstGeom>
          <a:noFill/>
        </p:spPr>
        <p:txBody>
          <a:bodyPr wrap="square">
            <a:spAutoFit/>
          </a:bodyPr>
          <a:lstStyle/>
          <a:p>
            <a:pPr algn="l">
              <a:lnSpc>
                <a:spcPct val="112000"/>
              </a:lnSpc>
              <a:spcAft>
                <a:spcPts val="300"/>
              </a:spcAft>
            </a:pPr>
            <a:r>
              <a:rPr sz="1400" b="0">
                <a:solidFill>
                  <a:srgbClr val="243447"/>
                </a:solidFill>
                <a:latin typeface="Calibri"/>
              </a:rPr>
              <a:t>All relevant staff review the week's error log together. Same guidance for everyone.</a:t>
            </a:r>
          </a:p>
        </p:txBody>
      </p:sp>
      <p:sp>
        <p:nvSpPr>
          <p:cNvPr id="11" name="Rounded Rectangle 10"/>
          <p:cNvSpPr/>
          <p:nvPr/>
        </p:nvSpPr>
        <p:spPr>
          <a:xfrm>
            <a:off x="6217920" y="1280160"/>
            <a:ext cx="5623560" cy="210312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280160"/>
            <a:ext cx="82296" cy="210312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408176"/>
            <a:ext cx="5257800"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Separate weekly review</a:t>
            </a:r>
          </a:p>
        </p:txBody>
      </p:sp>
      <p:sp>
        <p:nvSpPr>
          <p:cNvPr id="14" name="TextBox 13"/>
          <p:cNvSpPr txBox="1"/>
          <p:nvPr/>
        </p:nvSpPr>
        <p:spPr>
          <a:xfrm>
            <a:off x="6446520" y="1719072"/>
            <a:ext cx="5257800" cy="1554480"/>
          </a:xfrm>
          <a:prstGeom prst="rect">
            <a:avLst/>
          </a:prstGeom>
          <a:noFill/>
        </p:spPr>
        <p:txBody>
          <a:bodyPr wrap="square">
            <a:spAutoFit/>
          </a:bodyPr>
          <a:lstStyle/>
          <a:p>
            <a:pPr algn="l">
              <a:lnSpc>
                <a:spcPct val="112000"/>
              </a:lnSpc>
              <a:spcAft>
                <a:spcPts val="300"/>
              </a:spcAft>
            </a:pPr>
            <a:r>
              <a:rPr sz="1400" b="0">
                <a:solidFill>
                  <a:srgbClr val="243447"/>
                </a:solidFill>
                <a:latin typeface="Calibri"/>
              </a:rPr>
              <a:t>Held when one district or team has a different error pattern.</a:t>
            </a:r>
          </a:p>
        </p:txBody>
      </p:sp>
      <p:sp>
        <p:nvSpPr>
          <p:cNvPr id="15" name="Rounded Rectangle 14"/>
          <p:cNvSpPr/>
          <p:nvPr/>
        </p:nvSpPr>
        <p:spPr>
          <a:xfrm>
            <a:off x="411480" y="3611880"/>
            <a:ext cx="5623560" cy="210312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11480" y="3611880"/>
            <a:ext cx="82296" cy="210312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739896"/>
            <a:ext cx="5257800"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On-the-job training</a:t>
            </a:r>
          </a:p>
        </p:txBody>
      </p:sp>
      <p:sp>
        <p:nvSpPr>
          <p:cNvPr id="18" name="TextBox 17"/>
          <p:cNvSpPr txBox="1"/>
          <p:nvPr/>
        </p:nvSpPr>
        <p:spPr>
          <a:xfrm>
            <a:off x="640080" y="4050792"/>
            <a:ext cx="5257800" cy="1554480"/>
          </a:xfrm>
          <a:prstGeom prst="rect">
            <a:avLst/>
          </a:prstGeom>
          <a:noFill/>
        </p:spPr>
        <p:txBody>
          <a:bodyPr wrap="square">
            <a:spAutoFit/>
          </a:bodyPr>
          <a:lstStyle/>
          <a:p>
            <a:pPr algn="l">
              <a:lnSpc>
                <a:spcPct val="112000"/>
              </a:lnSpc>
              <a:spcAft>
                <a:spcPts val="300"/>
              </a:spcAft>
            </a:pPr>
            <a:r>
              <a:rPr sz="1400" b="0">
                <a:solidFill>
                  <a:srgbClr val="243447"/>
                </a:solidFill>
                <a:latin typeface="Calibri"/>
              </a:rPr>
              <a:t>Uses that week's real cases, not generic slides.</a:t>
            </a:r>
          </a:p>
        </p:txBody>
      </p:sp>
      <p:sp>
        <p:nvSpPr>
          <p:cNvPr id="19" name="Rounded Rectangle 18"/>
          <p:cNvSpPr/>
          <p:nvPr/>
        </p:nvSpPr>
        <p:spPr>
          <a:xfrm>
            <a:off x="6217920" y="3611880"/>
            <a:ext cx="5623560" cy="2103120"/>
          </a:xfrm>
          <a:prstGeom prst="roundRect">
            <a:avLst>
              <a:gd name="adj" fmla="val 6000"/>
            </a:avLst>
          </a:prstGeom>
          <a:solidFill>
            <a:srgbClr val="FFFFFF"/>
          </a:solidFill>
          <a:ln>
            <a:solidFill>
              <a:srgbClr val="C5D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3611880"/>
            <a:ext cx="82296" cy="2103120"/>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3739896"/>
            <a:ext cx="5257800" cy="320040"/>
          </a:xfrm>
          <a:prstGeom prst="rect">
            <a:avLst/>
          </a:prstGeom>
          <a:noFill/>
        </p:spPr>
        <p:txBody>
          <a:bodyPr wrap="square">
            <a:spAutoFit/>
          </a:bodyPr>
          <a:lstStyle/>
          <a:p>
            <a:pPr algn="l">
              <a:lnSpc>
                <a:spcPct val="112000"/>
              </a:lnSpc>
              <a:spcAft>
                <a:spcPts val="0"/>
              </a:spcAft>
            </a:pPr>
            <a:r>
              <a:rPr sz="1400" b="1">
                <a:solidFill>
                  <a:srgbClr val="17365D"/>
                </a:solidFill>
                <a:latin typeface="Calibri"/>
              </a:rPr>
              <a:t>Individual session</a:t>
            </a:r>
          </a:p>
        </p:txBody>
      </p:sp>
      <p:sp>
        <p:nvSpPr>
          <p:cNvPr id="22" name="TextBox 21"/>
          <p:cNvSpPr txBox="1"/>
          <p:nvPr/>
        </p:nvSpPr>
        <p:spPr>
          <a:xfrm>
            <a:off x="6446520" y="4050792"/>
            <a:ext cx="5257800" cy="1554480"/>
          </a:xfrm>
          <a:prstGeom prst="rect">
            <a:avLst/>
          </a:prstGeom>
          <a:noFill/>
        </p:spPr>
        <p:txBody>
          <a:bodyPr wrap="square">
            <a:spAutoFit/>
          </a:bodyPr>
          <a:lstStyle/>
          <a:p>
            <a:pPr algn="l">
              <a:lnSpc>
                <a:spcPct val="112000"/>
              </a:lnSpc>
              <a:spcAft>
                <a:spcPts val="300"/>
              </a:spcAft>
            </a:pPr>
            <a:r>
              <a:rPr sz="1400" b="0">
                <a:solidFill>
                  <a:srgbClr val="243447"/>
                </a:solidFill>
                <a:latin typeface="Calibri"/>
              </a:rPr>
              <a:t>If one enumerator keeps repeating the same mistake, a separate session is held.</a:t>
            </a:r>
          </a:p>
        </p:txBody>
      </p:sp>
      <p:sp>
        <p:nvSpPr>
          <p:cNvPr id="23" name="Rectangle 22"/>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25" name="TextBox 24"/>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18  /  20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11247120" cy="411480"/>
          </a:xfrm>
          <a:prstGeom prst="rect">
            <a:avLst/>
          </a:prstGeom>
          <a:noFill/>
        </p:spPr>
        <p:txBody>
          <a:bodyPr wrap="square">
            <a:spAutoFit/>
          </a:bodyPr>
          <a:lstStyle/>
          <a:p>
            <a:pPr algn="l">
              <a:lnSpc>
                <a:spcPct val="112000"/>
              </a:lnSpc>
              <a:spcAft>
                <a:spcPts val="0"/>
              </a:spcAft>
            </a:pPr>
            <a:r>
              <a:rPr sz="2600" b="1">
                <a:solidFill>
                  <a:srgbClr val="FFFFFF"/>
                </a:solidFill>
                <a:latin typeface="Calibri"/>
              </a:rPr>
              <a:t>Your daily checklist</a:t>
            </a:r>
          </a:p>
        </p:txBody>
      </p:sp>
      <p:sp>
        <p:nvSpPr>
          <p:cNvPr id="6" name="TextBox 5"/>
          <p:cNvSpPr txBox="1"/>
          <p:nvPr/>
        </p:nvSpPr>
        <p:spPr>
          <a:xfrm>
            <a:off x="457200" y="621792"/>
            <a:ext cx="11247120" cy="274320"/>
          </a:xfrm>
          <a:prstGeom prst="rect">
            <a:avLst/>
          </a:prstGeom>
          <a:noFill/>
        </p:spPr>
        <p:txBody>
          <a:bodyPr wrap="square">
            <a:spAutoFit/>
          </a:bodyPr>
          <a:lstStyle/>
          <a:p>
            <a:pPr algn="l">
              <a:lnSpc>
                <a:spcPct val="112000"/>
              </a:lnSpc>
              <a:spcAft>
                <a:spcPts val="0"/>
              </a:spcAft>
            </a:pPr>
            <a:r>
              <a:rPr sz="1200" b="0">
                <a:solidFill>
                  <a:srgbClr val="EEF6F8"/>
                </a:solidFill>
                <a:latin typeface="Calibri"/>
              </a:rPr>
              <a:t>Before you submit each form</a:t>
            </a:r>
          </a:p>
        </p:txBody>
      </p:sp>
      <p:sp>
        <p:nvSpPr>
          <p:cNvPr id="7" name="Rounded Rectangle 6"/>
          <p:cNvSpPr/>
          <p:nvPr/>
        </p:nvSpPr>
        <p:spPr>
          <a:xfrm>
            <a:off x="411480" y="1143000"/>
            <a:ext cx="5669280" cy="713232"/>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76072" y="1344168"/>
            <a:ext cx="292608" cy="292608"/>
          </a:xfrm>
          <a:prstGeom prst="roundRect">
            <a:avLst/>
          </a:prstGeom>
          <a:solidFill>
            <a:srgbClr val="FFFFFF"/>
          </a:solidFill>
          <a:ln>
            <a:solidFill>
              <a:srgbClr val="2A7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344168"/>
            <a:ext cx="489204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Interview done in person (not by phone)</a:t>
            </a:r>
          </a:p>
        </p:txBody>
      </p:sp>
      <p:sp>
        <p:nvSpPr>
          <p:cNvPr id="10" name="Rounded Rectangle 9"/>
          <p:cNvSpPr/>
          <p:nvPr/>
        </p:nvSpPr>
        <p:spPr>
          <a:xfrm>
            <a:off x="411480" y="1947672"/>
            <a:ext cx="5669280" cy="713232"/>
          </a:xfrm>
          <a:prstGeom prst="roundRect">
            <a:avLst>
              <a:gd name="adj" fmla="val 6000"/>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76072" y="2148840"/>
            <a:ext cx="292608" cy="292608"/>
          </a:xfrm>
          <a:prstGeom prst="roundRect">
            <a:avLst/>
          </a:prstGeom>
          <a:solidFill>
            <a:srgbClr val="FFFFFF"/>
          </a:solidFill>
          <a:ln>
            <a:solidFill>
              <a:srgbClr val="2A7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148840"/>
            <a:ext cx="489204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Tablet location ON for the whole form</a:t>
            </a:r>
          </a:p>
        </p:txBody>
      </p:sp>
      <p:sp>
        <p:nvSpPr>
          <p:cNvPr id="13" name="Rounded Rectangle 12"/>
          <p:cNvSpPr/>
          <p:nvPr/>
        </p:nvSpPr>
        <p:spPr>
          <a:xfrm>
            <a:off x="411480" y="2752344"/>
            <a:ext cx="5669280" cy="713232"/>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76072" y="2953512"/>
            <a:ext cx="292608" cy="292608"/>
          </a:xfrm>
          <a:prstGeom prst="roundRect">
            <a:avLst/>
          </a:prstGeom>
          <a:solidFill>
            <a:srgbClr val="FFFFFF"/>
          </a:solidFill>
          <a:ln>
            <a:solidFill>
              <a:srgbClr val="2A7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2953512"/>
            <a:ext cx="489204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Consent read and explained (not tapped through)</a:t>
            </a:r>
          </a:p>
        </p:txBody>
      </p:sp>
      <p:sp>
        <p:nvSpPr>
          <p:cNvPr id="16" name="Rounded Rectangle 15"/>
          <p:cNvSpPr/>
          <p:nvPr/>
        </p:nvSpPr>
        <p:spPr>
          <a:xfrm>
            <a:off x="411480" y="3557016"/>
            <a:ext cx="5669280" cy="713232"/>
          </a:xfrm>
          <a:prstGeom prst="roundRect">
            <a:avLst>
              <a:gd name="adj" fmla="val 6000"/>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76072" y="3758184"/>
            <a:ext cx="292608" cy="292608"/>
          </a:xfrm>
          <a:prstGeom prst="roundRect">
            <a:avLst/>
          </a:prstGeom>
          <a:solidFill>
            <a:srgbClr val="FFFFFF"/>
          </a:solidFill>
          <a:ln>
            <a:solidFill>
              <a:srgbClr val="2A7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3758184"/>
            <a:ext cx="489204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If father available + agreed: submit father survey</a:t>
            </a:r>
          </a:p>
        </p:txBody>
      </p:sp>
      <p:sp>
        <p:nvSpPr>
          <p:cNvPr id="19" name="Rounded Rectangle 18"/>
          <p:cNvSpPr/>
          <p:nvPr/>
        </p:nvSpPr>
        <p:spPr>
          <a:xfrm>
            <a:off x="411480" y="4361688"/>
            <a:ext cx="5669280" cy="713232"/>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76072" y="4562856"/>
            <a:ext cx="292608" cy="292608"/>
          </a:xfrm>
          <a:prstGeom prst="roundRect">
            <a:avLst/>
          </a:prstGeom>
          <a:solidFill>
            <a:srgbClr val="FFFFFF"/>
          </a:solidFill>
          <a:ln>
            <a:solidFill>
              <a:srgbClr val="2A7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4562856"/>
            <a:ext cx="489204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If mother available + agreed: submit mother survey</a:t>
            </a:r>
          </a:p>
        </p:txBody>
      </p:sp>
      <p:sp>
        <p:nvSpPr>
          <p:cNvPr id="22" name="Rounded Rectangle 21"/>
          <p:cNvSpPr/>
          <p:nvPr/>
        </p:nvSpPr>
        <p:spPr>
          <a:xfrm>
            <a:off x="411480" y="5166360"/>
            <a:ext cx="5669280" cy="713232"/>
          </a:xfrm>
          <a:prstGeom prst="roundRect">
            <a:avLst>
              <a:gd name="adj" fmla="val 6000"/>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76072" y="5367528"/>
            <a:ext cx="292608" cy="292608"/>
          </a:xfrm>
          <a:prstGeom prst="roundRect">
            <a:avLst/>
          </a:prstGeom>
          <a:solidFill>
            <a:srgbClr val="FFFFFF"/>
          </a:solidFill>
          <a:ln>
            <a:solidFill>
              <a:srgbClr val="2A7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5367528"/>
            <a:ext cx="489204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Both available + both agreed: both surveys mandatory</a:t>
            </a:r>
          </a:p>
        </p:txBody>
      </p:sp>
      <p:sp>
        <p:nvSpPr>
          <p:cNvPr id="25" name="Rounded Rectangle 24"/>
          <p:cNvSpPr/>
          <p:nvPr/>
        </p:nvSpPr>
        <p:spPr>
          <a:xfrm>
            <a:off x="6263640" y="1143000"/>
            <a:ext cx="5669280" cy="713232"/>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428232" y="1344168"/>
            <a:ext cx="292608" cy="292608"/>
          </a:xfrm>
          <a:prstGeom prst="roundRect">
            <a:avLst/>
          </a:prstGeom>
          <a:solidFill>
            <a:srgbClr val="FFFFFF"/>
          </a:solidFill>
          <a:ln>
            <a:solidFill>
              <a:srgbClr val="2A7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0" y="1344168"/>
            <a:ext cx="489204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Listed girl first on siblings roster; spelling = girl_label</a:t>
            </a:r>
          </a:p>
        </p:txBody>
      </p:sp>
      <p:sp>
        <p:nvSpPr>
          <p:cNvPr id="28" name="Rounded Rectangle 27"/>
          <p:cNvSpPr/>
          <p:nvPr/>
        </p:nvSpPr>
        <p:spPr>
          <a:xfrm>
            <a:off x="6263640" y="1947672"/>
            <a:ext cx="5669280" cy="713232"/>
          </a:xfrm>
          <a:prstGeom prst="roundRect">
            <a:avLst>
              <a:gd name="adj" fmla="val 6000"/>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428232" y="2148840"/>
            <a:ext cx="292608" cy="292608"/>
          </a:xfrm>
          <a:prstGeom prst="roundRect">
            <a:avLst/>
          </a:prstGeom>
          <a:solidFill>
            <a:srgbClr val="FFFFFF"/>
          </a:solidFill>
          <a:ln>
            <a:solidFill>
              <a:srgbClr val="2A7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0" y="2148840"/>
            <a:ext cx="489204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No dummy names or fake phone numbers</a:t>
            </a:r>
          </a:p>
        </p:txBody>
      </p:sp>
      <p:sp>
        <p:nvSpPr>
          <p:cNvPr id="31" name="Rounded Rectangle 30"/>
          <p:cNvSpPr/>
          <p:nvPr/>
        </p:nvSpPr>
        <p:spPr>
          <a:xfrm>
            <a:off x="6263640" y="2752344"/>
            <a:ext cx="5669280" cy="713232"/>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428232" y="2953512"/>
            <a:ext cx="292608" cy="292608"/>
          </a:xfrm>
          <a:prstGeom prst="roundRect">
            <a:avLst/>
          </a:prstGeom>
          <a:solidFill>
            <a:srgbClr val="FFFFFF"/>
          </a:solidFill>
          <a:ln>
            <a:solidFill>
              <a:srgbClr val="2A7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58000" y="2953512"/>
            <a:ext cx="489204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Completed form took at least 15 minutes</a:t>
            </a:r>
          </a:p>
        </p:txBody>
      </p:sp>
      <p:sp>
        <p:nvSpPr>
          <p:cNvPr id="34" name="Rounded Rectangle 33"/>
          <p:cNvSpPr/>
          <p:nvPr/>
        </p:nvSpPr>
        <p:spPr>
          <a:xfrm>
            <a:off x="6263640" y="3557016"/>
            <a:ext cx="5669280" cy="713232"/>
          </a:xfrm>
          <a:prstGeom prst="roundRect">
            <a:avLst>
              <a:gd name="adj" fmla="val 6000"/>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428232" y="3758184"/>
            <a:ext cx="292608" cy="292608"/>
          </a:xfrm>
          <a:prstGeom prst="roundRect">
            <a:avLst/>
          </a:prstGeom>
          <a:solidFill>
            <a:srgbClr val="FFFFFF"/>
          </a:solidFill>
          <a:ln>
            <a:solidFill>
              <a:srgbClr val="2A7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58000" y="3758184"/>
            <a:ext cx="489204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Learning-test paper photographed and uploaded</a:t>
            </a:r>
          </a:p>
        </p:txBody>
      </p:sp>
      <p:sp>
        <p:nvSpPr>
          <p:cNvPr id="37" name="Rounded Rectangle 36"/>
          <p:cNvSpPr/>
          <p:nvPr/>
        </p:nvSpPr>
        <p:spPr>
          <a:xfrm>
            <a:off x="6263640" y="4361688"/>
            <a:ext cx="5669280" cy="713232"/>
          </a:xfrm>
          <a:prstGeom prst="roundRect">
            <a:avLst>
              <a:gd name="adj" fmla="val 6000"/>
            </a:avLst>
          </a:prstGeom>
          <a:solidFill>
            <a:srgbClr val="EA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428232" y="4562856"/>
            <a:ext cx="292608" cy="292608"/>
          </a:xfrm>
          <a:prstGeom prst="roundRect">
            <a:avLst/>
          </a:prstGeom>
          <a:solidFill>
            <a:srgbClr val="FFFFFF"/>
          </a:solidFill>
          <a:ln>
            <a:solidFill>
              <a:srgbClr val="2A7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858000" y="4562856"/>
            <a:ext cx="489204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Do not re-open a completed case without approval</a:t>
            </a:r>
          </a:p>
        </p:txBody>
      </p:sp>
      <p:sp>
        <p:nvSpPr>
          <p:cNvPr id="40" name="Rounded Rectangle 39"/>
          <p:cNvSpPr/>
          <p:nvPr/>
        </p:nvSpPr>
        <p:spPr>
          <a:xfrm>
            <a:off x="6263640" y="5166360"/>
            <a:ext cx="5669280" cy="713232"/>
          </a:xfrm>
          <a:prstGeom prst="roundRect">
            <a:avLst>
              <a:gd name="adj" fmla="val 6000"/>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428232" y="5367528"/>
            <a:ext cx="292608" cy="292608"/>
          </a:xfrm>
          <a:prstGeom prst="roundRect">
            <a:avLst/>
          </a:prstGeom>
          <a:solidFill>
            <a:srgbClr val="FFFFFF"/>
          </a:solidFill>
          <a:ln>
            <a:solidFill>
              <a:srgbClr val="2A7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858000" y="5367528"/>
            <a:ext cx="4892040" cy="411480"/>
          </a:xfrm>
          <a:prstGeom prst="rect">
            <a:avLst/>
          </a:prstGeom>
          <a:noFill/>
        </p:spPr>
        <p:txBody>
          <a:bodyPr wrap="square">
            <a:spAutoFit/>
          </a:bodyPr>
          <a:lstStyle/>
          <a:p>
            <a:pPr algn="l">
              <a:lnSpc>
                <a:spcPct val="112000"/>
              </a:lnSpc>
              <a:spcAft>
                <a:spcPts val="0"/>
              </a:spcAft>
            </a:pPr>
            <a:r>
              <a:rPr sz="1300" b="0">
                <a:solidFill>
                  <a:srgbClr val="243447"/>
                </a:solidFill>
                <a:latin typeface="Calibri"/>
              </a:rPr>
              <a:t>Answer the daily QA call and follow Track 1 guidance</a:t>
            </a:r>
          </a:p>
        </p:txBody>
      </p:sp>
      <p:sp>
        <p:nvSpPr>
          <p:cNvPr id="43" name="Rectangle 42"/>
          <p:cNvSpPr/>
          <p:nvPr/>
        </p:nvSpPr>
        <p:spPr>
          <a:xfrm>
            <a:off x="0" y="6510528"/>
            <a:ext cx="12191695" cy="34747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11480" y="6547104"/>
            <a:ext cx="9326880" cy="256032"/>
          </a:xfrm>
          <a:prstGeom prst="rect">
            <a:avLst/>
          </a:prstGeom>
          <a:noFill/>
        </p:spPr>
        <p:txBody>
          <a:bodyPr wrap="square">
            <a:spAutoFit/>
          </a:bodyPr>
          <a:lstStyle/>
          <a:p>
            <a:pPr algn="l">
              <a:lnSpc>
                <a:spcPct val="112000"/>
              </a:lnSpc>
              <a:spcAft>
                <a:spcPts val="0"/>
              </a:spcAft>
            </a:pPr>
            <a:r>
              <a:rPr sz="1000" b="0">
                <a:solidFill>
                  <a:srgbClr val="FFFFFF"/>
                </a:solidFill>
                <a:latin typeface="Calibri"/>
              </a:rPr>
              <a:t>KP-RAP  ·  Household &amp; Girls Surveys  ·  Enumerator orientation  ·  QA Workplan 2.0</a:t>
            </a:r>
          </a:p>
        </p:txBody>
      </p:sp>
      <p:sp>
        <p:nvSpPr>
          <p:cNvPr id="45" name="TextBox 44"/>
          <p:cNvSpPr txBox="1"/>
          <p:nvPr/>
        </p:nvSpPr>
        <p:spPr>
          <a:xfrm>
            <a:off x="10515600" y="6547104"/>
            <a:ext cx="1371600" cy="256032"/>
          </a:xfrm>
          <a:prstGeom prst="rect">
            <a:avLst/>
          </a:prstGeom>
          <a:noFill/>
        </p:spPr>
        <p:txBody>
          <a:bodyPr wrap="square">
            <a:spAutoFit/>
          </a:bodyPr>
          <a:lstStyle/>
          <a:p>
            <a:pPr algn="r">
              <a:lnSpc>
                <a:spcPct val="112000"/>
              </a:lnSpc>
              <a:spcAft>
                <a:spcPts val="0"/>
              </a:spcAft>
            </a:pPr>
            <a:r>
              <a:rPr sz="1000" b="0">
                <a:solidFill>
                  <a:srgbClr val="EEF6F8"/>
                </a:solidFill>
                <a:latin typeface="Calibri"/>
              </a:rPr>
              <a:t>19  /  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49240"/>
            <a:ext cx="12191695" cy="73152"/>
          </a:xfrm>
          <a:prstGeom prst="rect">
            <a:avLst/>
          </a:prstGeom>
          <a:solidFill>
            <a:srgbClr val="2A7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0"/>
            <a:ext cx="11064240" cy="731520"/>
          </a:xfrm>
          <a:prstGeom prst="rect">
            <a:avLst/>
          </a:prstGeom>
          <a:noFill/>
        </p:spPr>
        <p:txBody>
          <a:bodyPr wrap="square">
            <a:spAutoFit/>
          </a:bodyPr>
          <a:lstStyle/>
          <a:p>
            <a:pPr algn="l">
              <a:lnSpc>
                <a:spcPct val="112000"/>
              </a:lnSpc>
              <a:spcAft>
                <a:spcPts val="0"/>
              </a:spcAft>
            </a:pPr>
            <a:r>
              <a:rPr sz="3800" b="1">
                <a:solidFill>
                  <a:srgbClr val="FFFFFF"/>
                </a:solidFill>
                <a:latin typeface="Calibri"/>
              </a:rPr>
              <a:t>Protect the interview.</a:t>
            </a:r>
          </a:p>
        </p:txBody>
      </p:sp>
      <p:sp>
        <p:nvSpPr>
          <p:cNvPr id="6" name="TextBox 5"/>
          <p:cNvSpPr txBox="1"/>
          <p:nvPr/>
        </p:nvSpPr>
        <p:spPr>
          <a:xfrm>
            <a:off x="548640" y="2606040"/>
            <a:ext cx="11064240" cy="2011680"/>
          </a:xfrm>
          <a:prstGeom prst="rect">
            <a:avLst/>
          </a:prstGeom>
          <a:noFill/>
        </p:spPr>
        <p:txBody>
          <a:bodyPr wrap="square">
            <a:spAutoFit/>
          </a:bodyPr>
          <a:lstStyle/>
          <a:p>
            <a:pPr algn="l">
              <a:lnSpc>
                <a:spcPct val="112000"/>
              </a:lnSpc>
              <a:spcAft>
                <a:spcPts val="600"/>
              </a:spcAft>
            </a:pPr>
            <a:r>
              <a:rPr sz="1700" b="0">
                <a:solidFill>
                  <a:srgbClr val="EAF0F6"/>
                </a:solidFill>
                <a:latin typeface="Calibri"/>
              </a:rPr>
              <a:t>Work in person. Keep location on. Take consent seriously.</a:t>
            </a:r>
          </a:p>
          <a:p>
            <a:pPr algn="l">
              <a:lnSpc>
                <a:spcPct val="112000"/>
              </a:lnSpc>
              <a:spcAft>
                <a:spcPts val="600"/>
              </a:spcAft>
            </a:pPr>
            <a:r>
              <a:rPr sz="1700" b="0">
                <a:solidFill>
                  <a:srgbClr val="EAF0F6"/>
                </a:solidFill>
                <a:latin typeface="Calibri"/>
              </a:rPr>
              <a:t>If father and mother are available and agreed, submit both surveys.</a:t>
            </a:r>
          </a:p>
          <a:p>
            <a:pPr algn="l">
              <a:lnSpc>
                <a:spcPct val="112000"/>
              </a:lnSpc>
              <a:spcAft>
                <a:spcPts val="600"/>
              </a:spcAft>
            </a:pPr>
            <a:r>
              <a:rPr sz="1700" b="0">
                <a:solidFill>
                  <a:srgbClr val="EAF0F6"/>
                </a:solidFill>
                <a:latin typeface="Calibri"/>
              </a:rPr>
              <a:t>Get the listed girl right. Upload a real test photo. Do not rush.</a:t>
            </a:r>
          </a:p>
          <a:p>
            <a:pPr algn="l">
              <a:lnSpc>
                <a:spcPct val="112000"/>
              </a:lnSpc>
              <a:spcAft>
                <a:spcPts val="600"/>
              </a:spcAft>
            </a:pPr>
            <a:r>
              <a:rPr sz="1700" b="0">
                <a:solidFill>
                  <a:srgbClr val="EAF0F6"/>
                </a:solidFill>
                <a:latin typeface="Calibri"/>
              </a:rPr>
              <a:t>If QA calls, answer, explain, and apply the guidance.</a:t>
            </a:r>
          </a:p>
        </p:txBody>
      </p:sp>
      <p:sp>
        <p:nvSpPr>
          <p:cNvPr id="7" name="TextBox 6"/>
          <p:cNvSpPr txBox="1"/>
          <p:nvPr/>
        </p:nvSpPr>
        <p:spPr>
          <a:xfrm>
            <a:off x="548640" y="5623560"/>
            <a:ext cx="11064240" cy="822960"/>
          </a:xfrm>
          <a:prstGeom prst="rect">
            <a:avLst/>
          </a:prstGeom>
          <a:noFill/>
        </p:spPr>
        <p:txBody>
          <a:bodyPr wrap="square">
            <a:spAutoFit/>
          </a:bodyPr>
          <a:lstStyle/>
          <a:p>
            <a:pPr algn="l">
              <a:lnSpc>
                <a:spcPct val="112000"/>
              </a:lnSpc>
              <a:spcAft>
                <a:spcPts val="200"/>
              </a:spcAft>
            </a:pPr>
            <a:r>
              <a:rPr sz="1300" b="0">
                <a:solidFill>
                  <a:srgbClr val="FFFFFF"/>
                </a:solidFill>
                <a:latin typeface="Calibri"/>
              </a:rPr>
              <a:t>Alliance of Excellence  ·  KP-RAP Quality Assurance Workplan 2.0</a:t>
            </a:r>
          </a:p>
          <a:p>
            <a:pPr algn="l">
              <a:lnSpc>
                <a:spcPct val="112000"/>
              </a:lnSpc>
              <a:spcAft>
                <a:spcPts val="200"/>
              </a:spcAft>
            </a:pPr>
            <a:r>
              <a:rPr sz="1300" b="0">
                <a:solidFill>
                  <a:srgbClr val="FFFFFF"/>
                </a:solidFill>
                <a:latin typeface="Calibri"/>
              </a:rPr>
              <a:t>Questions after this session: raise them with your supervisor or the technical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2887</Words>
  <Application>Microsoft Office PowerPoint</Application>
  <PresentationFormat>Widescreen</PresentationFormat>
  <Paragraphs>414</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Malki Aman</cp:lastModifiedBy>
  <cp:revision>1</cp:revision>
  <dcterms:created xsi:type="dcterms:W3CDTF">2013-01-27T09:14:16Z</dcterms:created>
  <dcterms:modified xsi:type="dcterms:W3CDTF">2026-08-24T16:37:59Z</dcterms:modified>
  <cp:category/>
</cp:coreProperties>
</file>